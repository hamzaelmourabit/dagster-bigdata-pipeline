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8528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jpg"/></Relationships>
</file>

<file path=ppt/slides/_rels/slide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5.pn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5.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5.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44.png"/><Relationship Id="rId5" Type="http://schemas.openxmlformats.org/officeDocument/2006/relationships/image" Target="../media/image39.pn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15.png"/><Relationship Id="rId9" Type="http://schemas.openxmlformats.org/officeDocument/2006/relationships/image" Target="../media/image42.png"/><Relationship Id="rId14" Type="http://schemas.openxmlformats.org/officeDocument/2006/relationships/image" Target="../media/image47.png"/></Relationships>
</file>

<file path=ppt/slides/_rels/slide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18" Type="http://schemas.openxmlformats.org/officeDocument/2006/relationships/image" Target="../media/image67.png"/><Relationship Id="rId3" Type="http://schemas.openxmlformats.org/officeDocument/2006/relationships/image" Target="../media/image1.png"/><Relationship Id="rId7" Type="http://schemas.openxmlformats.org/officeDocument/2006/relationships/image" Target="../media/image56.png"/><Relationship Id="rId12" Type="http://schemas.openxmlformats.org/officeDocument/2006/relationships/image" Target="../media/image61.png"/><Relationship Id="rId17" Type="http://schemas.openxmlformats.org/officeDocument/2006/relationships/image" Target="../media/image66.png"/><Relationship Id="rId2" Type="http://schemas.openxmlformats.org/officeDocument/2006/relationships/notesSlide" Target="../notesSlides/notesSlide6.xml"/><Relationship Id="rId16"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4.png"/><Relationship Id="rId10" Type="http://schemas.openxmlformats.org/officeDocument/2006/relationships/image" Target="../media/image59.png"/><Relationship Id="rId4" Type="http://schemas.openxmlformats.org/officeDocument/2006/relationships/image" Target="../media/image15.png"/><Relationship Id="rId9" Type="http://schemas.openxmlformats.org/officeDocument/2006/relationships/image" Target="../media/image58.png"/><Relationship Id="rId14" Type="http://schemas.openxmlformats.org/officeDocument/2006/relationships/image" Target="../media/image63.png"/></Relationships>
</file>

<file path=ppt/slides/_rels/slide7.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1.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 Type="http://schemas.openxmlformats.org/officeDocument/2006/relationships/notesSlide" Target="../notesSlides/notesSlide7.xml"/><Relationship Id="rId16"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4" Type="http://schemas.openxmlformats.org/officeDocument/2006/relationships/image" Target="../media/image15.png"/><Relationship Id="rId9" Type="http://schemas.openxmlformats.org/officeDocument/2006/relationships/image" Target="../media/image72.png"/><Relationship Id="rId14" Type="http://schemas.openxmlformats.org/officeDocument/2006/relationships/image" Target="../media/image77.png"/></Relationships>
</file>

<file path=ppt/slides/_rels/slide8.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1.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22.png"/><Relationship Id="rId10" Type="http://schemas.openxmlformats.org/officeDocument/2006/relationships/image" Target="../media/image85.png"/><Relationship Id="rId4" Type="http://schemas.openxmlformats.org/officeDocument/2006/relationships/image" Target="../media/image15.png"/><Relationship Id="rId9" Type="http://schemas.openxmlformats.org/officeDocument/2006/relationships/image" Target="../media/image84.png"/></Relationships>
</file>

<file path=ppt/slides/_rels/slide9.xml.rels><?xml version="1.0" encoding="UTF-8" standalone="yes"?>
<Relationships xmlns="http://schemas.openxmlformats.org/package/2006/relationships"><Relationship Id="rId13" Type="http://schemas.openxmlformats.org/officeDocument/2006/relationships/image" Target="../media/image96.png"/><Relationship Id="rId18" Type="http://schemas.openxmlformats.org/officeDocument/2006/relationships/image" Target="../media/image101.png"/><Relationship Id="rId26" Type="http://schemas.openxmlformats.org/officeDocument/2006/relationships/image" Target="../media/image109.png"/><Relationship Id="rId3" Type="http://schemas.openxmlformats.org/officeDocument/2006/relationships/image" Target="../media/image1.png"/><Relationship Id="rId21" Type="http://schemas.openxmlformats.org/officeDocument/2006/relationships/image" Target="../media/image104.png"/><Relationship Id="rId34" Type="http://schemas.openxmlformats.org/officeDocument/2006/relationships/image" Target="../media/image117.png"/><Relationship Id="rId7" Type="http://schemas.openxmlformats.org/officeDocument/2006/relationships/image" Target="../media/image90.png"/><Relationship Id="rId12" Type="http://schemas.openxmlformats.org/officeDocument/2006/relationships/image" Target="../media/image95.png"/><Relationship Id="rId17" Type="http://schemas.openxmlformats.org/officeDocument/2006/relationships/image" Target="../media/image100.png"/><Relationship Id="rId25" Type="http://schemas.openxmlformats.org/officeDocument/2006/relationships/image" Target="../media/image108.png"/><Relationship Id="rId33" Type="http://schemas.openxmlformats.org/officeDocument/2006/relationships/image" Target="../media/image116.png"/><Relationship Id="rId2" Type="http://schemas.openxmlformats.org/officeDocument/2006/relationships/notesSlide" Target="../notesSlides/notesSlide9.xml"/><Relationship Id="rId16" Type="http://schemas.openxmlformats.org/officeDocument/2006/relationships/image" Target="../media/image99.png"/><Relationship Id="rId20" Type="http://schemas.openxmlformats.org/officeDocument/2006/relationships/image" Target="../media/image103.png"/><Relationship Id="rId29" Type="http://schemas.openxmlformats.org/officeDocument/2006/relationships/image" Target="../media/image112.png"/><Relationship Id="rId1" Type="http://schemas.openxmlformats.org/officeDocument/2006/relationships/slideLayout" Target="../slideLayouts/slideLayout1.xml"/><Relationship Id="rId6" Type="http://schemas.openxmlformats.org/officeDocument/2006/relationships/image" Target="../media/image89.png"/><Relationship Id="rId11" Type="http://schemas.openxmlformats.org/officeDocument/2006/relationships/image" Target="../media/image94.png"/><Relationship Id="rId24" Type="http://schemas.openxmlformats.org/officeDocument/2006/relationships/image" Target="../media/image107.png"/><Relationship Id="rId32" Type="http://schemas.openxmlformats.org/officeDocument/2006/relationships/image" Target="../media/image115.png"/><Relationship Id="rId5" Type="http://schemas.openxmlformats.org/officeDocument/2006/relationships/image" Target="../media/image88.png"/><Relationship Id="rId15" Type="http://schemas.openxmlformats.org/officeDocument/2006/relationships/image" Target="../media/image98.png"/><Relationship Id="rId23" Type="http://schemas.openxmlformats.org/officeDocument/2006/relationships/image" Target="../media/image106.png"/><Relationship Id="rId28" Type="http://schemas.openxmlformats.org/officeDocument/2006/relationships/image" Target="../media/image111.png"/><Relationship Id="rId10" Type="http://schemas.openxmlformats.org/officeDocument/2006/relationships/image" Target="../media/image93.png"/><Relationship Id="rId19" Type="http://schemas.openxmlformats.org/officeDocument/2006/relationships/image" Target="../media/image102.png"/><Relationship Id="rId31" Type="http://schemas.openxmlformats.org/officeDocument/2006/relationships/image" Target="../media/image114.png"/><Relationship Id="rId4" Type="http://schemas.openxmlformats.org/officeDocument/2006/relationships/image" Target="../media/image15.png"/><Relationship Id="rId9" Type="http://schemas.openxmlformats.org/officeDocument/2006/relationships/image" Target="../media/image92.png"/><Relationship Id="rId14" Type="http://schemas.openxmlformats.org/officeDocument/2006/relationships/image" Target="../media/image97.png"/><Relationship Id="rId22" Type="http://schemas.openxmlformats.org/officeDocument/2006/relationships/image" Target="../media/image105.png"/><Relationship Id="rId27" Type="http://schemas.openxmlformats.org/officeDocument/2006/relationships/image" Target="../media/image110.png"/><Relationship Id="rId30" Type="http://schemas.openxmlformats.org/officeDocument/2006/relationships/image" Target="../media/image113.png"/><Relationship Id="rId8" Type="http://schemas.openxmlformats.org/officeDocument/2006/relationships/image" Target="../media/image91.png"/></Relationships>
</file>

<file path=ppt/slides/_rels/slide10.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notesSlide" Target="../notesSlides/notesSlide10.xml"/><Relationship Id="rId16"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8.png"/><Relationship Id="rId10" Type="http://schemas.openxmlformats.org/officeDocument/2006/relationships/image" Target="../media/image123.png"/><Relationship Id="rId4" Type="http://schemas.openxmlformats.org/officeDocument/2006/relationships/image" Target="../media/image15.png"/><Relationship Id="rId9" Type="http://schemas.openxmlformats.org/officeDocument/2006/relationships/image" Target="../media/image122.png"/><Relationship Id="rId14" Type="http://schemas.openxmlformats.org/officeDocument/2006/relationships/image" Target="../media/image127.png"/></Relationships>
</file>

<file path=ppt/slides/_rels/slide11.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3" Type="http://schemas.openxmlformats.org/officeDocument/2006/relationships/image" Target="../media/image1.png"/><Relationship Id="rId7" Type="http://schemas.openxmlformats.org/officeDocument/2006/relationships/image" Target="../media/image132.png"/><Relationship Id="rId12" Type="http://schemas.openxmlformats.org/officeDocument/2006/relationships/image" Target="../media/image137.png"/><Relationship Id="rId2" Type="http://schemas.openxmlformats.org/officeDocument/2006/relationships/notesSlide" Target="../notesSlides/notesSlide11.xml"/><Relationship Id="rId16" Type="http://schemas.openxmlformats.org/officeDocument/2006/relationships/image" Target="../media/image141.png"/><Relationship Id="rId1" Type="http://schemas.openxmlformats.org/officeDocument/2006/relationships/slideLayout" Target="../slideLayouts/slideLayout1.xml"/><Relationship Id="rId6" Type="http://schemas.openxmlformats.org/officeDocument/2006/relationships/image" Target="../media/image131.png"/><Relationship Id="rId11" Type="http://schemas.openxmlformats.org/officeDocument/2006/relationships/image" Target="../media/image136.png"/><Relationship Id="rId5" Type="http://schemas.openxmlformats.org/officeDocument/2006/relationships/image" Target="../media/image130.png"/><Relationship Id="rId15" Type="http://schemas.openxmlformats.org/officeDocument/2006/relationships/image" Target="../media/image140.png"/><Relationship Id="rId10" Type="http://schemas.openxmlformats.org/officeDocument/2006/relationships/image" Target="../media/image135.png"/><Relationship Id="rId4" Type="http://schemas.openxmlformats.org/officeDocument/2006/relationships/image" Target="../media/image15.png"/><Relationship Id="rId9" Type="http://schemas.openxmlformats.org/officeDocument/2006/relationships/image" Target="../media/image134.png"/><Relationship Id="rId14" Type="http://schemas.openxmlformats.org/officeDocument/2006/relationships/image" Target="../media/image139.png"/></Relationships>
</file>

<file path=ppt/slides/_rels/slide12.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png"/><Relationship Id="rId7" Type="http://schemas.openxmlformats.org/officeDocument/2006/relationships/image" Target="../media/image14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29.png"/><Relationship Id="rId9" Type="http://schemas.openxmlformats.org/officeDocument/2006/relationships/image" Target="../media/image14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 y="0"/>
            <a:ext cx="12479060" cy="6858000"/>
          </a:xfrm>
          <a:prstGeom prst="rect">
            <a:avLst/>
          </a:prstGeom>
        </p:spPr>
      </p:pic>
      <p:pic>
        <p:nvPicPr>
          <p:cNvPr id="3" name="Image 1" descr="preencoded.png"/>
          <p:cNvPicPr>
            <a:picLocks noChangeAspect="1"/>
          </p:cNvPicPr>
          <p:nvPr/>
        </p:nvPicPr>
        <p:blipFill>
          <a:blip r:embed="rId4"/>
          <a:stretch>
            <a:fillRect/>
          </a:stretch>
        </p:blipFill>
        <p:spPr>
          <a:xfrm>
            <a:off x="4318635" y="1771650"/>
            <a:ext cx="781050" cy="867833"/>
          </a:xfrm>
          <a:prstGeom prst="rect">
            <a:avLst/>
          </a:prstGeom>
        </p:spPr>
      </p:pic>
      <p:pic>
        <p:nvPicPr>
          <p:cNvPr id="4" name="Image 2" descr="preencoded.png"/>
          <p:cNvPicPr>
            <a:picLocks noChangeAspect="1"/>
          </p:cNvPicPr>
          <p:nvPr/>
        </p:nvPicPr>
        <p:blipFill>
          <a:blip r:embed="rId5"/>
          <a:stretch>
            <a:fillRect/>
          </a:stretch>
        </p:blipFill>
        <p:spPr>
          <a:xfrm>
            <a:off x="2061270" y="2895600"/>
            <a:ext cx="952500" cy="952500"/>
          </a:xfrm>
          <a:prstGeom prst="rect">
            <a:avLst/>
          </a:prstGeom>
        </p:spPr>
      </p:pic>
      <p:pic>
        <p:nvPicPr>
          <p:cNvPr id="5" name="Image 3" descr="preencoded.png"/>
          <p:cNvPicPr>
            <a:picLocks noChangeAspect="1"/>
          </p:cNvPicPr>
          <p:nvPr/>
        </p:nvPicPr>
        <p:blipFill>
          <a:blip r:embed="rId6"/>
          <a:stretch>
            <a:fillRect/>
          </a:stretch>
        </p:blipFill>
        <p:spPr>
          <a:xfrm>
            <a:off x="2347020" y="3219450"/>
            <a:ext cx="381000" cy="304800"/>
          </a:xfrm>
          <a:prstGeom prst="rect">
            <a:avLst/>
          </a:prstGeom>
        </p:spPr>
      </p:pic>
      <p:pic>
        <p:nvPicPr>
          <p:cNvPr id="6" name="Image 4" descr="preencoded.png"/>
          <p:cNvPicPr>
            <a:picLocks noChangeAspect="1"/>
          </p:cNvPicPr>
          <p:nvPr/>
        </p:nvPicPr>
        <p:blipFill>
          <a:blip r:embed="rId7"/>
          <a:stretch>
            <a:fillRect/>
          </a:stretch>
        </p:blipFill>
        <p:spPr>
          <a:xfrm>
            <a:off x="3013770" y="3448050"/>
            <a:ext cx="1714500" cy="38100"/>
          </a:xfrm>
          <a:prstGeom prst="rect">
            <a:avLst/>
          </a:prstGeom>
        </p:spPr>
      </p:pic>
      <p:pic>
        <p:nvPicPr>
          <p:cNvPr id="7" name="Image 5" descr="preencoded.png"/>
          <p:cNvPicPr>
            <a:picLocks noChangeAspect="1"/>
          </p:cNvPicPr>
          <p:nvPr/>
        </p:nvPicPr>
        <p:blipFill>
          <a:blip r:embed="rId8"/>
          <a:stretch>
            <a:fillRect/>
          </a:stretch>
        </p:blipFill>
        <p:spPr>
          <a:xfrm>
            <a:off x="5109270" y="2895600"/>
            <a:ext cx="952500" cy="952500"/>
          </a:xfrm>
          <a:prstGeom prst="rect">
            <a:avLst/>
          </a:prstGeom>
        </p:spPr>
      </p:pic>
      <p:pic>
        <p:nvPicPr>
          <p:cNvPr id="8" name="Image 6" descr="preencoded.png"/>
          <p:cNvPicPr>
            <a:picLocks noChangeAspect="1"/>
          </p:cNvPicPr>
          <p:nvPr/>
        </p:nvPicPr>
        <p:blipFill>
          <a:blip r:embed="rId9"/>
          <a:stretch>
            <a:fillRect/>
          </a:stretch>
        </p:blipFill>
        <p:spPr>
          <a:xfrm>
            <a:off x="5395020" y="3219450"/>
            <a:ext cx="381000" cy="304800"/>
          </a:xfrm>
          <a:prstGeom prst="rect">
            <a:avLst/>
          </a:prstGeom>
        </p:spPr>
      </p:pic>
      <p:pic>
        <p:nvPicPr>
          <p:cNvPr id="9" name="Image 7" descr="preencoded.png"/>
          <p:cNvPicPr>
            <a:picLocks noChangeAspect="1"/>
          </p:cNvPicPr>
          <p:nvPr/>
        </p:nvPicPr>
        <p:blipFill>
          <a:blip r:embed="rId7"/>
          <a:stretch>
            <a:fillRect/>
          </a:stretch>
        </p:blipFill>
        <p:spPr>
          <a:xfrm>
            <a:off x="6061770" y="3448050"/>
            <a:ext cx="1714500" cy="38100"/>
          </a:xfrm>
          <a:prstGeom prst="rect">
            <a:avLst/>
          </a:prstGeom>
        </p:spPr>
      </p:pic>
      <p:pic>
        <p:nvPicPr>
          <p:cNvPr id="10" name="Image 8" descr="preencoded.png"/>
          <p:cNvPicPr>
            <a:picLocks noChangeAspect="1"/>
          </p:cNvPicPr>
          <p:nvPr/>
        </p:nvPicPr>
        <p:blipFill>
          <a:blip r:embed="rId10"/>
          <a:stretch>
            <a:fillRect/>
          </a:stretch>
        </p:blipFill>
        <p:spPr>
          <a:xfrm>
            <a:off x="8157270" y="2895600"/>
            <a:ext cx="952500" cy="952500"/>
          </a:xfrm>
          <a:prstGeom prst="rect">
            <a:avLst/>
          </a:prstGeom>
        </p:spPr>
      </p:pic>
      <p:pic>
        <p:nvPicPr>
          <p:cNvPr id="11" name="Image 9" descr="preencoded.png"/>
          <p:cNvPicPr>
            <a:picLocks noChangeAspect="1"/>
          </p:cNvPicPr>
          <p:nvPr/>
        </p:nvPicPr>
        <p:blipFill>
          <a:blip r:embed="rId11"/>
          <a:stretch>
            <a:fillRect/>
          </a:stretch>
        </p:blipFill>
        <p:spPr>
          <a:xfrm>
            <a:off x="8462070" y="3219450"/>
            <a:ext cx="342900" cy="304800"/>
          </a:xfrm>
          <a:prstGeom prst="rect">
            <a:avLst/>
          </a:prstGeom>
        </p:spPr>
      </p:pic>
      <p:pic>
        <p:nvPicPr>
          <p:cNvPr id="12" name="Image 10" descr="preencoded.png"/>
          <p:cNvPicPr>
            <a:picLocks noChangeAspect="1"/>
          </p:cNvPicPr>
          <p:nvPr/>
        </p:nvPicPr>
        <p:blipFill>
          <a:blip r:embed="rId7"/>
          <a:stretch>
            <a:fillRect/>
          </a:stretch>
        </p:blipFill>
        <p:spPr>
          <a:xfrm>
            <a:off x="9109770" y="3448050"/>
            <a:ext cx="1714500" cy="38100"/>
          </a:xfrm>
          <a:prstGeom prst="rect">
            <a:avLst/>
          </a:prstGeom>
        </p:spPr>
      </p:pic>
      <p:pic>
        <p:nvPicPr>
          <p:cNvPr id="13" name="Image 11" descr="preencoded.png"/>
          <p:cNvPicPr>
            <a:picLocks noChangeAspect="1"/>
          </p:cNvPicPr>
          <p:nvPr/>
        </p:nvPicPr>
        <p:blipFill>
          <a:blip r:embed="rId12"/>
          <a:stretch>
            <a:fillRect/>
          </a:stretch>
        </p:blipFill>
        <p:spPr>
          <a:xfrm>
            <a:off x="10252770" y="2895600"/>
            <a:ext cx="952500" cy="952500"/>
          </a:xfrm>
          <a:prstGeom prst="rect">
            <a:avLst/>
          </a:prstGeom>
        </p:spPr>
      </p:pic>
      <p:pic>
        <p:nvPicPr>
          <p:cNvPr id="14" name="Image 12" descr="preencoded.png"/>
          <p:cNvPicPr>
            <a:picLocks noChangeAspect="1"/>
          </p:cNvPicPr>
          <p:nvPr/>
        </p:nvPicPr>
        <p:blipFill>
          <a:blip r:embed="rId13"/>
          <a:stretch>
            <a:fillRect/>
          </a:stretch>
        </p:blipFill>
        <p:spPr>
          <a:xfrm>
            <a:off x="10576620" y="3219450"/>
            <a:ext cx="304800" cy="304800"/>
          </a:xfrm>
          <a:prstGeom prst="rect">
            <a:avLst/>
          </a:prstGeom>
        </p:spPr>
      </p:pic>
      <p:sp>
        <p:nvSpPr>
          <p:cNvPr id="15" name="Text 0"/>
          <p:cNvSpPr/>
          <p:nvPr/>
        </p:nvSpPr>
        <p:spPr>
          <a:xfrm>
            <a:off x="-670560" y="457200"/>
            <a:ext cx="13533120"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Dagster – Orchestration des pipelines Big Data</a:t>
            </a:r>
            <a:endParaRPr lang="en-US" sz="2700" dirty="0"/>
          </a:p>
        </p:txBody>
      </p:sp>
      <p:sp>
        <p:nvSpPr>
          <p:cNvPr id="16" name="Text 1"/>
          <p:cNvSpPr/>
          <p:nvPr/>
        </p:nvSpPr>
        <p:spPr>
          <a:xfrm>
            <a:off x="-3174388" y="5105400"/>
            <a:ext cx="11277600" cy="304800"/>
          </a:xfrm>
          <a:prstGeom prst="rect">
            <a:avLst/>
          </a:prstGeom>
          <a:noFill/>
          <a:ln/>
        </p:spPr>
        <p:txBody>
          <a:bodyPr vert="horz" wrap="square" lIns="0" tIns="0" rIns="0" bIns="0" rtlCol="0" anchor="t"/>
          <a:lstStyle/>
          <a:p>
            <a:pPr marL="0" indent="0" algn="ctr">
              <a:lnSpc>
                <a:spcPts val="2400"/>
              </a:lnSpc>
              <a:buNone/>
            </a:pPr>
            <a:r>
              <a:rPr lang="en-US" sz="1800" dirty="0">
                <a:solidFill>
                  <a:srgbClr val="4B5563"/>
                </a:solidFill>
                <a:latin typeface="ui-sans-serif" pitchFamily="34" charset="0"/>
                <a:ea typeface="ui-sans-serif" pitchFamily="34" charset="-122"/>
                <a:cs typeface="ui-sans-serif" pitchFamily="34" charset="-120"/>
              </a:rPr>
              <a:t> </a:t>
            </a:r>
            <a:r>
              <a:rPr lang="en-US" sz="1800" dirty="0" err="1">
                <a:solidFill>
                  <a:srgbClr val="4B5563"/>
                </a:solidFill>
                <a:latin typeface="ui-sans-serif" pitchFamily="34" charset="0"/>
                <a:ea typeface="ui-sans-serif" pitchFamily="34" charset="-122"/>
                <a:cs typeface="ui-sans-serif" pitchFamily="34" charset="-120"/>
              </a:rPr>
              <a:t>Réalisé</a:t>
            </a:r>
            <a:r>
              <a:rPr lang="en-US" sz="1800" dirty="0">
                <a:solidFill>
                  <a:srgbClr val="4B5563"/>
                </a:solidFill>
                <a:latin typeface="ui-sans-serif" pitchFamily="34" charset="0"/>
                <a:ea typeface="ui-sans-serif" pitchFamily="34" charset="-122"/>
                <a:cs typeface="ui-sans-serif" pitchFamily="34" charset="-120"/>
              </a:rPr>
              <a:t> par : </a:t>
            </a:r>
          </a:p>
          <a:p>
            <a:pPr marL="0" indent="0" algn="ctr">
              <a:lnSpc>
                <a:spcPts val="2400"/>
              </a:lnSpc>
              <a:buNone/>
            </a:pPr>
            <a:r>
              <a:rPr lang="en-US" sz="1800" dirty="0">
                <a:solidFill>
                  <a:srgbClr val="4B5563"/>
                </a:solidFill>
                <a:latin typeface="ui-sans-serif" pitchFamily="34" charset="0"/>
                <a:ea typeface="ui-sans-serif" pitchFamily="34" charset="-122"/>
                <a:cs typeface="ui-sans-serif" pitchFamily="34" charset="-120"/>
              </a:rPr>
              <a:t>Hamza </a:t>
            </a:r>
            <a:r>
              <a:rPr lang="en-US" sz="1800" dirty="0" err="1">
                <a:solidFill>
                  <a:srgbClr val="4B5563"/>
                </a:solidFill>
                <a:latin typeface="ui-sans-serif" pitchFamily="34" charset="0"/>
                <a:ea typeface="ui-sans-serif" pitchFamily="34" charset="-122"/>
                <a:cs typeface="ui-sans-serif" pitchFamily="34" charset="-120"/>
              </a:rPr>
              <a:t>Elmourabit</a:t>
            </a:r>
            <a:r>
              <a:rPr lang="en-US" sz="1800" dirty="0">
                <a:solidFill>
                  <a:srgbClr val="4B5563"/>
                </a:solidFill>
                <a:latin typeface="ui-sans-serif" pitchFamily="34" charset="0"/>
                <a:ea typeface="ui-sans-serif" pitchFamily="34" charset="-122"/>
                <a:cs typeface="ui-sans-serif" pitchFamily="34" charset="-120"/>
              </a:rPr>
              <a:t> </a:t>
            </a:r>
          </a:p>
          <a:p>
            <a:pPr marL="0" indent="0" algn="ctr">
              <a:lnSpc>
                <a:spcPts val="2400"/>
              </a:lnSpc>
              <a:buNone/>
            </a:pPr>
            <a:r>
              <a:rPr lang="en-US" sz="1800" dirty="0">
                <a:solidFill>
                  <a:srgbClr val="4B5563"/>
                </a:solidFill>
                <a:latin typeface="ui-sans-serif" pitchFamily="34" charset="0"/>
                <a:ea typeface="ui-sans-serif" pitchFamily="34" charset="-122"/>
                <a:cs typeface="ui-sans-serif" pitchFamily="34" charset="-120"/>
              </a:rPr>
              <a:t> </a:t>
            </a:r>
            <a:endParaRPr lang="en-US" sz="1800" dirty="0"/>
          </a:p>
        </p:txBody>
      </p:sp>
      <p:sp>
        <p:nvSpPr>
          <p:cNvPr id="18" name="Text 3"/>
          <p:cNvSpPr/>
          <p:nvPr/>
        </p:nvSpPr>
        <p:spPr>
          <a:xfrm>
            <a:off x="1866900" y="4191000"/>
            <a:ext cx="9144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Code Python</a:t>
            </a:r>
            <a:endParaRPr lang="en-US" sz="1200" dirty="0"/>
          </a:p>
        </p:txBody>
      </p:sp>
      <p:sp>
        <p:nvSpPr>
          <p:cNvPr id="19" name="Text 4"/>
          <p:cNvSpPr/>
          <p:nvPr/>
        </p:nvSpPr>
        <p:spPr>
          <a:xfrm>
            <a:off x="4290060" y="4191000"/>
            <a:ext cx="109728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Dagster</a:t>
            </a:r>
            <a:endParaRPr lang="en-US" sz="1200" dirty="0"/>
          </a:p>
        </p:txBody>
      </p:sp>
      <p:sp>
        <p:nvSpPr>
          <p:cNvPr id="20" name="Text 5"/>
          <p:cNvSpPr/>
          <p:nvPr/>
        </p:nvSpPr>
        <p:spPr>
          <a:xfrm>
            <a:off x="6896100" y="4191000"/>
            <a:ext cx="9144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Dagit</a:t>
            </a:r>
            <a:endParaRPr lang="en-US" sz="1200" dirty="0"/>
          </a:p>
        </p:txBody>
      </p:sp>
      <p:sp>
        <p:nvSpPr>
          <p:cNvPr id="21" name="Text 6"/>
          <p:cNvSpPr/>
          <p:nvPr/>
        </p:nvSpPr>
        <p:spPr>
          <a:xfrm>
            <a:off x="9319260" y="4191000"/>
            <a:ext cx="109728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Résultats</a:t>
            </a:r>
            <a:endParaRPr lang="en-US" sz="1200" dirty="0"/>
          </a:p>
        </p:txBody>
      </p:sp>
      <p:sp>
        <p:nvSpPr>
          <p:cNvPr id="22" name="Text 7"/>
          <p:cNvSpPr/>
          <p:nvPr/>
        </p:nvSpPr>
        <p:spPr>
          <a:xfrm>
            <a:off x="457200" y="6172200"/>
            <a:ext cx="11277600" cy="228600"/>
          </a:xfrm>
          <a:prstGeom prst="rect">
            <a:avLst/>
          </a:prstGeom>
          <a:noFill/>
          <a:ln/>
        </p:spPr>
        <p:txBody>
          <a:bodyPr vert="horz" wrap="square" lIns="0" tIns="0" rIns="0" bIns="0" rtlCol="0" anchor="t"/>
          <a:lstStyle/>
          <a:p>
            <a:pPr marL="0" indent="0" algn="r">
              <a:lnSpc>
                <a:spcPts val="1800"/>
              </a:lnSpc>
              <a:buNone/>
            </a:pPr>
            <a:r>
              <a:rPr lang="en-US" sz="1200" dirty="0">
                <a:solidFill>
                  <a:srgbClr val="6B7280"/>
                </a:solidFill>
                <a:latin typeface="ui-sans-serif" pitchFamily="34" charset="0"/>
                <a:ea typeface="ui-sans-serif" pitchFamily="34" charset="-122"/>
                <a:cs typeface="ui-sans-serif" pitchFamily="34" charset="-120"/>
              </a:rPr>
              <a:t>16 </a:t>
            </a:r>
            <a:r>
              <a:rPr lang="en-US" sz="1200" dirty="0" err="1">
                <a:solidFill>
                  <a:srgbClr val="6B7280"/>
                </a:solidFill>
                <a:latin typeface="ui-sans-serif" pitchFamily="34" charset="0"/>
                <a:ea typeface="ui-sans-serif" pitchFamily="34" charset="-122"/>
                <a:cs typeface="ui-sans-serif" pitchFamily="34" charset="-120"/>
              </a:rPr>
              <a:t>décembre</a:t>
            </a:r>
            <a:r>
              <a:rPr lang="en-US" sz="1200" dirty="0">
                <a:solidFill>
                  <a:srgbClr val="6B7280"/>
                </a:solidFill>
                <a:latin typeface="ui-sans-serif" pitchFamily="34" charset="0"/>
                <a:ea typeface="ui-sans-serif" pitchFamily="34" charset="-122"/>
                <a:cs typeface="ui-sans-serif" pitchFamily="34" charset="-120"/>
              </a:rPr>
              <a:t> 2025</a:t>
            </a:r>
            <a:endParaRPr lang="en-US" sz="1200" dirty="0"/>
          </a:p>
        </p:txBody>
      </p:sp>
      <p:sp>
        <p:nvSpPr>
          <p:cNvPr id="23" name="Text 1">
            <a:extLst>
              <a:ext uri="{FF2B5EF4-FFF2-40B4-BE49-F238E27FC236}">
                <a16:creationId xmlns:a16="http://schemas.microsoft.com/office/drawing/2014/main" id="{41BE00D8-EE98-A5A2-1F95-E5C265DDA382}"/>
              </a:ext>
            </a:extLst>
          </p:cNvPr>
          <p:cNvSpPr/>
          <p:nvPr/>
        </p:nvSpPr>
        <p:spPr>
          <a:xfrm>
            <a:off x="3871020" y="4953000"/>
            <a:ext cx="11277600" cy="304800"/>
          </a:xfrm>
          <a:prstGeom prst="rect">
            <a:avLst/>
          </a:prstGeom>
          <a:noFill/>
          <a:ln/>
        </p:spPr>
        <p:txBody>
          <a:bodyPr vert="horz" wrap="square" lIns="0" tIns="0" rIns="0" bIns="0" rtlCol="0" anchor="t"/>
          <a:lstStyle/>
          <a:p>
            <a:pPr marL="0" indent="0" algn="ctr">
              <a:lnSpc>
                <a:spcPts val="2400"/>
              </a:lnSpc>
              <a:buNone/>
            </a:pPr>
            <a:r>
              <a:rPr lang="en-US" sz="1800" dirty="0">
                <a:solidFill>
                  <a:srgbClr val="4B5563"/>
                </a:solidFill>
                <a:latin typeface="ui-sans-serif" pitchFamily="34" charset="0"/>
                <a:ea typeface="ui-sans-serif" pitchFamily="34" charset="-122"/>
                <a:cs typeface="ui-sans-serif" pitchFamily="34" charset="-120"/>
              </a:rPr>
              <a:t> </a:t>
            </a:r>
            <a:r>
              <a:rPr lang="en-US" sz="1800" dirty="0" err="1">
                <a:solidFill>
                  <a:srgbClr val="4B5563"/>
                </a:solidFill>
                <a:latin typeface="ui-sans-serif" pitchFamily="34" charset="0"/>
                <a:ea typeface="ui-sans-serif" pitchFamily="34" charset="-122"/>
                <a:cs typeface="ui-sans-serif" pitchFamily="34" charset="-120"/>
              </a:rPr>
              <a:t>Encadré</a:t>
            </a:r>
            <a:r>
              <a:rPr lang="en-US" sz="1800" dirty="0">
                <a:solidFill>
                  <a:srgbClr val="4B5563"/>
                </a:solidFill>
                <a:latin typeface="ui-sans-serif" pitchFamily="34" charset="0"/>
                <a:ea typeface="ui-sans-serif" pitchFamily="34" charset="-122"/>
                <a:cs typeface="ui-sans-serif" pitchFamily="34" charset="-120"/>
              </a:rPr>
              <a:t> par  : </a:t>
            </a:r>
          </a:p>
          <a:p>
            <a:pPr marL="0" indent="0" algn="ctr">
              <a:lnSpc>
                <a:spcPts val="2400"/>
              </a:lnSpc>
              <a:buNone/>
            </a:pPr>
            <a:r>
              <a:rPr lang="en-US" dirty="0" err="1">
                <a:solidFill>
                  <a:srgbClr val="4B5563"/>
                </a:solidFill>
                <a:latin typeface="ui-sans-serif" pitchFamily="34" charset="0"/>
                <a:ea typeface="ui-sans-serif" pitchFamily="34" charset="-122"/>
                <a:cs typeface="ui-sans-serif" pitchFamily="34" charset="-120"/>
              </a:rPr>
              <a:t>Pr.Lamia</a:t>
            </a:r>
            <a:r>
              <a:rPr lang="en-US" dirty="0">
                <a:solidFill>
                  <a:srgbClr val="4B5563"/>
                </a:solidFill>
                <a:latin typeface="ui-sans-serif" pitchFamily="34" charset="0"/>
                <a:ea typeface="ui-sans-serif" pitchFamily="34" charset="-122"/>
                <a:cs typeface="ui-sans-serif" pitchFamily="34" charset="-120"/>
              </a:rPr>
              <a:t> Karim</a:t>
            </a:r>
            <a:r>
              <a:rPr lang="en-US" sz="1800" dirty="0">
                <a:solidFill>
                  <a:srgbClr val="4B5563"/>
                </a:solidFill>
                <a:latin typeface="ui-sans-serif" pitchFamily="34" charset="0"/>
                <a:ea typeface="ui-sans-serif" pitchFamily="34" charset="-122"/>
                <a:cs typeface="ui-sans-serif" pitchFamily="34" charset="-120"/>
              </a:rPr>
              <a:t> </a:t>
            </a:r>
          </a:p>
          <a:p>
            <a:pPr marL="0" indent="0" algn="ctr">
              <a:lnSpc>
                <a:spcPts val="2400"/>
              </a:lnSpc>
              <a:buNone/>
            </a:pPr>
            <a:r>
              <a:rPr lang="en-US" sz="1800" dirty="0">
                <a:solidFill>
                  <a:srgbClr val="4B5563"/>
                </a:solidFill>
                <a:latin typeface="ui-sans-serif" pitchFamily="34" charset="0"/>
                <a:ea typeface="ui-sans-serif" pitchFamily="34" charset="-122"/>
                <a:cs typeface="ui-sans-serif" pitchFamily="34" charset="-120"/>
              </a:rPr>
              <a:t> </a:t>
            </a:r>
            <a:endParaRPr lang="en-US" sz="1800" dirty="0"/>
          </a:p>
        </p:txBody>
      </p:sp>
      <p:pic>
        <p:nvPicPr>
          <p:cNvPr id="25" name="Image 24">
            <a:extLst>
              <a:ext uri="{FF2B5EF4-FFF2-40B4-BE49-F238E27FC236}">
                <a16:creationId xmlns:a16="http://schemas.microsoft.com/office/drawing/2014/main" id="{50FCE830-EF96-9A7A-0AB7-B1CC98D55D9E}"/>
              </a:ext>
            </a:extLst>
          </p:cNvPr>
          <p:cNvPicPr>
            <a:picLocks noChangeAspect="1"/>
          </p:cNvPicPr>
          <p:nvPr/>
        </p:nvPicPr>
        <p:blipFill>
          <a:blip r:embed="rId14"/>
          <a:stretch>
            <a:fillRect/>
          </a:stretch>
        </p:blipFill>
        <p:spPr>
          <a:xfrm>
            <a:off x="5245503" y="1295400"/>
            <a:ext cx="2122714" cy="1485900"/>
          </a:xfrm>
          <a:prstGeom prst="rect">
            <a:avLst/>
          </a:prstGeom>
        </p:spPr>
      </p:pic>
      <p:pic>
        <p:nvPicPr>
          <p:cNvPr id="27" name="Image 26">
            <a:extLst>
              <a:ext uri="{FF2B5EF4-FFF2-40B4-BE49-F238E27FC236}">
                <a16:creationId xmlns:a16="http://schemas.microsoft.com/office/drawing/2014/main" id="{B52DF41F-0C26-D05C-894F-3687A2EF4FA3}"/>
              </a:ext>
            </a:extLst>
          </p:cNvPr>
          <p:cNvPicPr>
            <a:picLocks noChangeAspect="1"/>
          </p:cNvPicPr>
          <p:nvPr/>
        </p:nvPicPr>
        <p:blipFill>
          <a:blip r:embed="rId15"/>
          <a:stretch>
            <a:fillRect/>
          </a:stretch>
        </p:blipFill>
        <p:spPr>
          <a:xfrm>
            <a:off x="10644187" y="198664"/>
            <a:ext cx="952500" cy="1050471"/>
          </a:xfrm>
          <a:prstGeom prst="rect">
            <a:avLst/>
          </a:prstGeom>
        </p:spPr>
      </p:pic>
      <p:pic>
        <p:nvPicPr>
          <p:cNvPr id="29" name="Image 28">
            <a:extLst>
              <a:ext uri="{FF2B5EF4-FFF2-40B4-BE49-F238E27FC236}">
                <a16:creationId xmlns:a16="http://schemas.microsoft.com/office/drawing/2014/main" id="{CA4907FC-EDC5-4480-25E2-A4E37AD37DF9}"/>
              </a:ext>
            </a:extLst>
          </p:cNvPr>
          <p:cNvPicPr>
            <a:picLocks noChangeAspect="1"/>
          </p:cNvPicPr>
          <p:nvPr/>
        </p:nvPicPr>
        <p:blipFill>
          <a:blip r:embed="rId16"/>
          <a:stretch>
            <a:fillRect/>
          </a:stretch>
        </p:blipFill>
        <p:spPr>
          <a:xfrm>
            <a:off x="330577" y="447675"/>
            <a:ext cx="2016443" cy="552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381000" y="1181100"/>
            <a:ext cx="247650" cy="342900"/>
          </a:xfrm>
          <a:prstGeom prst="rect">
            <a:avLst/>
          </a:prstGeom>
        </p:spPr>
      </p:pic>
      <p:pic>
        <p:nvPicPr>
          <p:cNvPr id="5" name="Image 3" descr="preencoded.png"/>
          <p:cNvPicPr>
            <a:picLocks noChangeAspect="1"/>
          </p:cNvPicPr>
          <p:nvPr/>
        </p:nvPicPr>
        <p:blipFill>
          <a:blip r:embed="rId6"/>
          <a:stretch>
            <a:fillRect/>
          </a:stretch>
        </p:blipFill>
        <p:spPr>
          <a:xfrm>
            <a:off x="381000" y="2133600"/>
            <a:ext cx="361950" cy="342900"/>
          </a:xfrm>
          <a:prstGeom prst="rect">
            <a:avLst/>
          </a:prstGeom>
        </p:spPr>
      </p:pic>
      <p:pic>
        <p:nvPicPr>
          <p:cNvPr id="6" name="Image 4" descr="preencoded.png"/>
          <p:cNvPicPr>
            <a:picLocks noChangeAspect="1"/>
          </p:cNvPicPr>
          <p:nvPr/>
        </p:nvPicPr>
        <p:blipFill>
          <a:blip r:embed="rId7"/>
          <a:stretch>
            <a:fillRect/>
          </a:stretch>
        </p:blipFill>
        <p:spPr>
          <a:xfrm>
            <a:off x="381000" y="3314700"/>
            <a:ext cx="323850" cy="342900"/>
          </a:xfrm>
          <a:prstGeom prst="rect">
            <a:avLst/>
          </a:prstGeom>
        </p:spPr>
      </p:pic>
      <p:pic>
        <p:nvPicPr>
          <p:cNvPr id="7" name="Image 5" descr="preencoded.png"/>
          <p:cNvPicPr>
            <a:picLocks noChangeAspect="1"/>
          </p:cNvPicPr>
          <p:nvPr/>
        </p:nvPicPr>
        <p:blipFill>
          <a:blip r:embed="rId8"/>
          <a:stretch>
            <a:fillRect/>
          </a:stretch>
        </p:blipFill>
        <p:spPr>
          <a:xfrm>
            <a:off x="6572250" y="2000250"/>
            <a:ext cx="4762500" cy="2857500"/>
          </a:xfrm>
          <a:prstGeom prst="rect">
            <a:avLst/>
          </a:prstGeom>
        </p:spPr>
      </p:pic>
      <p:sp>
        <p:nvSpPr>
          <p:cNvPr id="8"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Contexte Big Data</a:t>
            </a:r>
            <a:endParaRPr lang="en-US" sz="2700" dirty="0"/>
          </a:p>
        </p:txBody>
      </p:sp>
      <p:sp>
        <p:nvSpPr>
          <p:cNvPr id="9" name="Text 1"/>
          <p:cNvSpPr/>
          <p:nvPr/>
        </p:nvSpPr>
        <p:spPr>
          <a:xfrm>
            <a:off x="771525" y="1181100"/>
            <a:ext cx="602361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Croissance rapide des données</a:t>
            </a:r>
            <a:endParaRPr lang="en-US" sz="1500" dirty="0"/>
          </a:p>
        </p:txBody>
      </p:sp>
      <p:sp>
        <p:nvSpPr>
          <p:cNvPr id="10" name="Text 2"/>
          <p:cNvSpPr/>
          <p:nvPr/>
        </p:nvSpPr>
        <p:spPr>
          <a:xfrm>
            <a:off x="771525" y="1485900"/>
            <a:ext cx="501967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Volume de données générées et collectées augmente de manière exponentielle, rendant leur gestion de plus en plus complexe.</a:t>
            </a:r>
            <a:endParaRPr lang="en-US" sz="1200" dirty="0"/>
          </a:p>
        </p:txBody>
      </p:sp>
      <p:sp>
        <p:nvSpPr>
          <p:cNvPr id="11" name="Text 3"/>
          <p:cNvSpPr/>
          <p:nvPr/>
        </p:nvSpPr>
        <p:spPr>
          <a:xfrm>
            <a:off x="885825" y="2133600"/>
            <a:ext cx="5886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Automatisation des traitements</a:t>
            </a:r>
            <a:endParaRPr lang="en-US" sz="1500" dirty="0"/>
          </a:p>
        </p:txBody>
      </p:sp>
      <p:sp>
        <p:nvSpPr>
          <p:cNvPr id="12" name="Text 4"/>
          <p:cNvSpPr/>
          <p:nvPr/>
        </p:nvSpPr>
        <p:spPr>
          <a:xfrm>
            <a:off x="885825" y="2438400"/>
            <a:ext cx="4905375"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Nécessité d'automatiser les processus de collecte, de transformation et d'analyse des données pour garantir l'efficacité et la réactivité.</a:t>
            </a:r>
            <a:endParaRPr lang="en-US" sz="1200" dirty="0"/>
          </a:p>
        </p:txBody>
      </p:sp>
      <p:sp>
        <p:nvSpPr>
          <p:cNvPr id="13" name="Text 5"/>
          <p:cNvSpPr/>
          <p:nvPr/>
        </p:nvSpPr>
        <p:spPr>
          <a:xfrm>
            <a:off x="847725" y="3314700"/>
            <a:ext cx="593217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Besoin d'un orchestrateur</a:t>
            </a:r>
            <a:endParaRPr lang="en-US" sz="1500" dirty="0"/>
          </a:p>
        </p:txBody>
      </p:sp>
      <p:sp>
        <p:nvSpPr>
          <p:cNvPr id="14" name="Text 6"/>
          <p:cNvSpPr/>
          <p:nvPr/>
        </p:nvSpPr>
        <p:spPr>
          <a:xfrm>
            <a:off x="847725" y="3619500"/>
            <a:ext cx="4943475"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Face à la complexité croissante des pipelines de données, un outil d'orchestration est indispensable pour coordonner les différentes étapes.</a:t>
            </a:r>
            <a:endParaRPr lang="en-US" sz="1200" dirty="0"/>
          </a:p>
        </p:txBody>
      </p:sp>
      <p:sp>
        <p:nvSpPr>
          <p:cNvPr id="15" name="Text 7"/>
          <p:cNvSpPr/>
          <p:nvPr/>
        </p:nvSpPr>
        <p:spPr>
          <a:xfrm>
            <a:off x="6390873" y="5010150"/>
            <a:ext cx="5125105" cy="228600"/>
          </a:xfrm>
          <a:prstGeom prst="rect">
            <a:avLst/>
          </a:prstGeom>
          <a:noFill/>
          <a:ln/>
        </p:spPr>
        <p:txBody>
          <a:bodyPr vert="horz" wrap="square" lIns="0" tIns="0" rIns="0" bIns="0" rtlCol="0" anchor="t"/>
          <a:lstStyle/>
          <a:p>
            <a:pPr marL="0" indent="0" algn="ctr">
              <a:lnSpc>
                <a:spcPts val="1800"/>
              </a:lnSpc>
              <a:buNone/>
            </a:pPr>
            <a:r>
              <a:rPr lang="en-US" sz="1200" i="1" dirty="0">
                <a:solidFill>
                  <a:srgbClr val="6B7280"/>
                </a:solidFill>
                <a:latin typeface="ui-sans-serif" pitchFamily="34" charset="0"/>
                <a:ea typeface="ui-sans-serif" pitchFamily="34" charset="-122"/>
                <a:cs typeface="ui-sans-serif" pitchFamily="34" charset="-120"/>
              </a:rPr>
              <a:t>Croissance exponentielle des données au fil des années</a:t>
            </a:r>
            <a:endParaRPr lang="en-US" sz="1200" dirty="0"/>
          </a:p>
        </p:txBody>
      </p:sp>
      <p:sp>
        <p:nvSpPr>
          <p:cNvPr id="16" name="Text 8"/>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17" name="Text 9"/>
          <p:cNvSpPr/>
          <p:nvPr/>
        </p:nvSpPr>
        <p:spPr>
          <a:xfrm>
            <a:off x="11360944" y="6286500"/>
            <a:ext cx="54006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381000" y="1028700"/>
            <a:ext cx="6477000" cy="1600200"/>
          </a:xfrm>
          <a:prstGeom prst="rect">
            <a:avLst/>
          </a:prstGeom>
        </p:spPr>
      </p:pic>
      <p:pic>
        <p:nvPicPr>
          <p:cNvPr id="5" name="Image 3" descr="preencoded.png"/>
          <p:cNvPicPr>
            <a:picLocks noChangeAspect="1"/>
          </p:cNvPicPr>
          <p:nvPr/>
        </p:nvPicPr>
        <p:blipFill>
          <a:blip r:embed="rId6"/>
          <a:stretch>
            <a:fillRect/>
          </a:stretch>
        </p:blipFill>
        <p:spPr>
          <a:xfrm>
            <a:off x="381000" y="2781300"/>
            <a:ext cx="6477000" cy="800100"/>
          </a:xfrm>
          <a:prstGeom prst="rect">
            <a:avLst/>
          </a:prstGeom>
        </p:spPr>
      </p:pic>
      <p:pic>
        <p:nvPicPr>
          <p:cNvPr id="6" name="Image 4" descr="preencoded.png"/>
          <p:cNvPicPr>
            <a:picLocks noChangeAspect="1"/>
          </p:cNvPicPr>
          <p:nvPr/>
        </p:nvPicPr>
        <p:blipFill>
          <a:blip r:embed="rId7"/>
          <a:stretch>
            <a:fillRect/>
          </a:stretch>
        </p:blipFill>
        <p:spPr>
          <a:xfrm>
            <a:off x="523875" y="2781300"/>
            <a:ext cx="285750" cy="304800"/>
          </a:xfrm>
          <a:prstGeom prst="rect">
            <a:avLst/>
          </a:prstGeom>
        </p:spPr>
      </p:pic>
      <p:pic>
        <p:nvPicPr>
          <p:cNvPr id="7" name="Image 5" descr="preencoded.png"/>
          <p:cNvPicPr>
            <a:picLocks noChangeAspect="1"/>
          </p:cNvPicPr>
          <p:nvPr/>
        </p:nvPicPr>
        <p:blipFill>
          <a:blip r:embed="rId6"/>
          <a:stretch>
            <a:fillRect/>
          </a:stretch>
        </p:blipFill>
        <p:spPr>
          <a:xfrm>
            <a:off x="381000" y="3724275"/>
            <a:ext cx="6477000" cy="800100"/>
          </a:xfrm>
          <a:prstGeom prst="rect">
            <a:avLst/>
          </a:prstGeom>
        </p:spPr>
      </p:pic>
      <p:pic>
        <p:nvPicPr>
          <p:cNvPr id="8" name="Image 6" descr="preencoded.png"/>
          <p:cNvPicPr>
            <a:picLocks noChangeAspect="1"/>
          </p:cNvPicPr>
          <p:nvPr/>
        </p:nvPicPr>
        <p:blipFill>
          <a:blip r:embed="rId8"/>
          <a:stretch>
            <a:fillRect/>
          </a:stretch>
        </p:blipFill>
        <p:spPr>
          <a:xfrm>
            <a:off x="523875" y="3724275"/>
            <a:ext cx="285750" cy="304800"/>
          </a:xfrm>
          <a:prstGeom prst="rect">
            <a:avLst/>
          </a:prstGeom>
        </p:spPr>
      </p:pic>
      <p:pic>
        <p:nvPicPr>
          <p:cNvPr id="9" name="Image 7" descr="preencoded.png"/>
          <p:cNvPicPr>
            <a:picLocks noChangeAspect="1"/>
          </p:cNvPicPr>
          <p:nvPr/>
        </p:nvPicPr>
        <p:blipFill>
          <a:blip r:embed="rId6"/>
          <a:stretch>
            <a:fillRect/>
          </a:stretch>
        </p:blipFill>
        <p:spPr>
          <a:xfrm>
            <a:off x="381000" y="4667250"/>
            <a:ext cx="6477000" cy="800100"/>
          </a:xfrm>
          <a:prstGeom prst="rect">
            <a:avLst/>
          </a:prstGeom>
        </p:spPr>
      </p:pic>
      <p:pic>
        <p:nvPicPr>
          <p:cNvPr id="10" name="Image 8" descr="preencoded.png"/>
          <p:cNvPicPr>
            <a:picLocks noChangeAspect="1"/>
          </p:cNvPicPr>
          <p:nvPr/>
        </p:nvPicPr>
        <p:blipFill>
          <a:blip r:embed="rId9"/>
          <a:stretch>
            <a:fillRect/>
          </a:stretch>
        </p:blipFill>
        <p:spPr>
          <a:xfrm>
            <a:off x="523875" y="4667250"/>
            <a:ext cx="228600" cy="304800"/>
          </a:xfrm>
          <a:prstGeom prst="rect">
            <a:avLst/>
          </a:prstGeom>
        </p:spPr>
      </p:pic>
      <p:pic>
        <p:nvPicPr>
          <p:cNvPr id="11" name="Image 9" descr="preencoded.png"/>
          <p:cNvPicPr>
            <a:picLocks noChangeAspect="1"/>
          </p:cNvPicPr>
          <p:nvPr/>
        </p:nvPicPr>
        <p:blipFill>
          <a:blip r:embed="rId10"/>
          <a:stretch>
            <a:fillRect/>
          </a:stretch>
        </p:blipFill>
        <p:spPr>
          <a:xfrm>
            <a:off x="8667750" y="1962150"/>
            <a:ext cx="1714500" cy="1714500"/>
          </a:xfrm>
          <a:prstGeom prst="rect">
            <a:avLst/>
          </a:prstGeom>
        </p:spPr>
      </p:pic>
      <p:pic>
        <p:nvPicPr>
          <p:cNvPr id="12" name="Image 10" descr="preencoded.png"/>
          <p:cNvPicPr>
            <a:picLocks noChangeAspect="1"/>
          </p:cNvPicPr>
          <p:nvPr/>
        </p:nvPicPr>
        <p:blipFill>
          <a:blip r:embed="rId11"/>
          <a:stretch>
            <a:fillRect/>
          </a:stretch>
        </p:blipFill>
        <p:spPr>
          <a:xfrm>
            <a:off x="8667750" y="1962150"/>
            <a:ext cx="1714500" cy="1714500"/>
          </a:xfrm>
          <a:prstGeom prst="rect">
            <a:avLst/>
          </a:prstGeom>
        </p:spPr>
      </p:pic>
      <p:pic>
        <p:nvPicPr>
          <p:cNvPr id="13" name="Image 11" descr="preencoded.png"/>
          <p:cNvPicPr>
            <a:picLocks noChangeAspect="1"/>
          </p:cNvPicPr>
          <p:nvPr/>
        </p:nvPicPr>
        <p:blipFill>
          <a:blip r:embed="rId12"/>
          <a:stretch>
            <a:fillRect/>
          </a:stretch>
        </p:blipFill>
        <p:spPr>
          <a:xfrm>
            <a:off x="7239000" y="3829050"/>
            <a:ext cx="4572000" cy="1371600"/>
          </a:xfrm>
          <a:prstGeom prst="rect">
            <a:avLst/>
          </a:prstGeom>
        </p:spPr>
      </p:pic>
      <p:pic>
        <p:nvPicPr>
          <p:cNvPr id="14" name="Image 12" descr="preencoded.png"/>
          <p:cNvPicPr>
            <a:picLocks noChangeAspect="1"/>
          </p:cNvPicPr>
          <p:nvPr/>
        </p:nvPicPr>
        <p:blipFill>
          <a:blip r:embed="rId13"/>
          <a:stretch>
            <a:fillRect/>
          </a:stretch>
        </p:blipFill>
        <p:spPr>
          <a:xfrm>
            <a:off x="8368457" y="3981450"/>
            <a:ext cx="171450" cy="304800"/>
          </a:xfrm>
          <a:prstGeom prst="rect">
            <a:avLst/>
          </a:prstGeom>
        </p:spPr>
      </p:pic>
      <p:sp>
        <p:nvSpPr>
          <p:cNvPr id="15"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Qu'est-ce que Dagster ?</a:t>
            </a:r>
            <a:endParaRPr lang="en-US" sz="2700" dirty="0"/>
          </a:p>
        </p:txBody>
      </p:sp>
      <p:sp>
        <p:nvSpPr>
          <p:cNvPr id="16" name="Text 1"/>
          <p:cNvSpPr/>
          <p:nvPr/>
        </p:nvSpPr>
        <p:spPr>
          <a:xfrm>
            <a:off x="571500" y="1219200"/>
            <a:ext cx="60960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2563EB"/>
                </a:solidFill>
                <a:latin typeface="ui-sans-serif" pitchFamily="34" charset="0"/>
                <a:ea typeface="ui-sans-serif" pitchFamily="34" charset="-122"/>
                <a:cs typeface="ui-sans-serif" pitchFamily="34" charset="-120"/>
              </a:rPr>
              <a:t>Dagster est un outil d'orchestration de pipelines basé sur Python</a:t>
            </a:r>
            <a:endParaRPr lang="en-US" sz="1800" dirty="0"/>
          </a:p>
        </p:txBody>
      </p:sp>
      <p:sp>
        <p:nvSpPr>
          <p:cNvPr id="17" name="Text 2"/>
          <p:cNvSpPr/>
          <p:nvPr/>
        </p:nvSpPr>
        <p:spPr>
          <a:xfrm>
            <a:off x="571500" y="1905000"/>
            <a:ext cx="60960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Gère des pipelines de données complexes de manière fiable, du développement à la production.</a:t>
            </a:r>
            <a:endParaRPr lang="en-US" sz="1350" dirty="0"/>
          </a:p>
        </p:txBody>
      </p:sp>
      <p:sp>
        <p:nvSpPr>
          <p:cNvPr id="18" name="Text 3"/>
          <p:cNvSpPr/>
          <p:nvPr/>
        </p:nvSpPr>
        <p:spPr>
          <a:xfrm>
            <a:off x="962025" y="2800350"/>
            <a:ext cx="2775883"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Définition de pipeline</a:t>
            </a:r>
            <a:endParaRPr lang="en-US" sz="1500" dirty="0"/>
          </a:p>
        </p:txBody>
      </p:sp>
      <p:sp>
        <p:nvSpPr>
          <p:cNvPr id="19" name="Text 4"/>
          <p:cNvSpPr/>
          <p:nvPr/>
        </p:nvSpPr>
        <p:spPr>
          <a:xfrm>
            <a:off x="523875" y="3124200"/>
            <a:ext cx="633412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Les pipelines sont définis en Python, utilisant toute la puissance du langage pour orchestrer les données.</a:t>
            </a:r>
            <a:endParaRPr lang="en-US" sz="1200" dirty="0"/>
          </a:p>
        </p:txBody>
      </p:sp>
      <p:sp>
        <p:nvSpPr>
          <p:cNvPr id="20" name="Text 5"/>
          <p:cNvSpPr/>
          <p:nvPr/>
        </p:nvSpPr>
        <p:spPr>
          <a:xfrm>
            <a:off x="962025" y="3743325"/>
            <a:ext cx="3307556"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Gestion des dépendances</a:t>
            </a:r>
            <a:endParaRPr lang="en-US" sz="1500" dirty="0"/>
          </a:p>
        </p:txBody>
      </p:sp>
      <p:sp>
        <p:nvSpPr>
          <p:cNvPr id="21" name="Text 6"/>
          <p:cNvSpPr/>
          <p:nvPr/>
        </p:nvSpPr>
        <p:spPr>
          <a:xfrm>
            <a:off x="523875" y="4067175"/>
            <a:ext cx="633412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Dagster gère automatiquement les dépendances entre les composants du pipeline.</a:t>
            </a:r>
            <a:endParaRPr lang="en-US" sz="1200" dirty="0"/>
          </a:p>
        </p:txBody>
      </p:sp>
      <p:sp>
        <p:nvSpPr>
          <p:cNvPr id="22" name="Text 7"/>
          <p:cNvSpPr/>
          <p:nvPr/>
        </p:nvSpPr>
        <p:spPr>
          <a:xfrm>
            <a:off x="904875" y="4686300"/>
            <a:ext cx="1051917"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Fiabilité</a:t>
            </a:r>
            <a:endParaRPr lang="en-US" sz="1500" dirty="0"/>
          </a:p>
        </p:txBody>
      </p:sp>
      <p:sp>
        <p:nvSpPr>
          <p:cNvPr id="23" name="Text 8"/>
          <p:cNvSpPr/>
          <p:nvPr/>
        </p:nvSpPr>
        <p:spPr>
          <a:xfrm>
            <a:off x="523875" y="5010150"/>
            <a:ext cx="633412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Conçu pour la robustesse avec des mécanismes de gestion des erreurs et de re-tentative.</a:t>
            </a:r>
            <a:endParaRPr lang="en-US" sz="1200" dirty="0"/>
          </a:p>
        </p:txBody>
      </p:sp>
      <p:sp>
        <p:nvSpPr>
          <p:cNvPr id="24" name="Text 9"/>
          <p:cNvSpPr/>
          <p:nvPr/>
        </p:nvSpPr>
        <p:spPr>
          <a:xfrm>
            <a:off x="8654207" y="4000500"/>
            <a:ext cx="24328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Centre de données</a:t>
            </a:r>
            <a:endParaRPr lang="en-US" sz="1500" dirty="0"/>
          </a:p>
        </p:txBody>
      </p:sp>
      <p:sp>
        <p:nvSpPr>
          <p:cNvPr id="25" name="Text 10"/>
          <p:cNvSpPr/>
          <p:nvPr/>
        </p:nvSpPr>
        <p:spPr>
          <a:xfrm>
            <a:off x="7391400" y="4362450"/>
            <a:ext cx="426720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Dagster se concentre sur la gestion des "assets" plutôt que sur les tâches individuelles, offrant une approche centrée sur les données.</a:t>
            </a:r>
            <a:endParaRPr lang="en-US" sz="1200" dirty="0"/>
          </a:p>
        </p:txBody>
      </p:sp>
      <p:sp>
        <p:nvSpPr>
          <p:cNvPr id="26" name="Text 11"/>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27" name="Text 12"/>
          <p:cNvSpPr/>
          <p:nvPr/>
        </p:nvSpPr>
        <p:spPr>
          <a:xfrm>
            <a:off x="11360944" y="6286500"/>
            <a:ext cx="54006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381000" y="1181100"/>
            <a:ext cx="5562600" cy="2286000"/>
          </a:xfrm>
          <a:prstGeom prst="rect">
            <a:avLst/>
          </a:prstGeom>
        </p:spPr>
      </p:pic>
      <p:pic>
        <p:nvPicPr>
          <p:cNvPr id="5" name="Image 3" descr="preencoded.png"/>
          <p:cNvPicPr>
            <a:picLocks noChangeAspect="1"/>
          </p:cNvPicPr>
          <p:nvPr/>
        </p:nvPicPr>
        <p:blipFill>
          <a:blip r:embed="rId6"/>
          <a:stretch>
            <a:fillRect/>
          </a:stretch>
        </p:blipFill>
        <p:spPr>
          <a:xfrm>
            <a:off x="609600" y="1409700"/>
            <a:ext cx="285750" cy="666750"/>
          </a:xfrm>
          <a:prstGeom prst="rect">
            <a:avLst/>
          </a:prstGeom>
        </p:spPr>
      </p:pic>
      <p:pic>
        <p:nvPicPr>
          <p:cNvPr id="6" name="Image 4" descr="preencoded.png"/>
          <p:cNvPicPr>
            <a:picLocks noChangeAspect="1"/>
          </p:cNvPicPr>
          <p:nvPr/>
        </p:nvPicPr>
        <p:blipFill>
          <a:blip r:embed="rId7"/>
          <a:stretch>
            <a:fillRect/>
          </a:stretch>
        </p:blipFill>
        <p:spPr>
          <a:xfrm>
            <a:off x="609600" y="1571625"/>
            <a:ext cx="285750" cy="342900"/>
          </a:xfrm>
          <a:prstGeom prst="rect">
            <a:avLst/>
          </a:prstGeom>
        </p:spPr>
      </p:pic>
      <p:pic>
        <p:nvPicPr>
          <p:cNvPr id="7" name="Image 5" descr="preencoded.png"/>
          <p:cNvPicPr>
            <a:picLocks noChangeAspect="1"/>
          </p:cNvPicPr>
          <p:nvPr/>
        </p:nvPicPr>
        <p:blipFill>
          <a:blip r:embed="rId5"/>
          <a:stretch>
            <a:fillRect/>
          </a:stretch>
        </p:blipFill>
        <p:spPr>
          <a:xfrm>
            <a:off x="6248400" y="1181100"/>
            <a:ext cx="5562600" cy="2286000"/>
          </a:xfrm>
          <a:prstGeom prst="rect">
            <a:avLst/>
          </a:prstGeom>
        </p:spPr>
      </p:pic>
      <p:pic>
        <p:nvPicPr>
          <p:cNvPr id="8" name="Image 6" descr="preencoded.png"/>
          <p:cNvPicPr>
            <a:picLocks noChangeAspect="1"/>
          </p:cNvPicPr>
          <p:nvPr/>
        </p:nvPicPr>
        <p:blipFill>
          <a:blip r:embed="rId8"/>
          <a:stretch>
            <a:fillRect/>
          </a:stretch>
        </p:blipFill>
        <p:spPr>
          <a:xfrm>
            <a:off x="6477000" y="1409700"/>
            <a:ext cx="323850" cy="666750"/>
          </a:xfrm>
          <a:prstGeom prst="rect">
            <a:avLst/>
          </a:prstGeom>
        </p:spPr>
      </p:pic>
      <p:pic>
        <p:nvPicPr>
          <p:cNvPr id="9" name="Image 7" descr="preencoded.png"/>
          <p:cNvPicPr>
            <a:picLocks noChangeAspect="1"/>
          </p:cNvPicPr>
          <p:nvPr/>
        </p:nvPicPr>
        <p:blipFill>
          <a:blip r:embed="rId9"/>
          <a:stretch>
            <a:fillRect/>
          </a:stretch>
        </p:blipFill>
        <p:spPr>
          <a:xfrm>
            <a:off x="6477000" y="1571625"/>
            <a:ext cx="323850" cy="342900"/>
          </a:xfrm>
          <a:prstGeom prst="rect">
            <a:avLst/>
          </a:prstGeom>
        </p:spPr>
      </p:pic>
      <p:pic>
        <p:nvPicPr>
          <p:cNvPr id="10" name="Image 8" descr="preencoded.png"/>
          <p:cNvPicPr>
            <a:picLocks noChangeAspect="1"/>
          </p:cNvPicPr>
          <p:nvPr/>
        </p:nvPicPr>
        <p:blipFill>
          <a:blip r:embed="rId5"/>
          <a:stretch>
            <a:fillRect/>
          </a:stretch>
        </p:blipFill>
        <p:spPr>
          <a:xfrm>
            <a:off x="381000" y="3771900"/>
            <a:ext cx="5562600" cy="2286000"/>
          </a:xfrm>
          <a:prstGeom prst="rect">
            <a:avLst/>
          </a:prstGeom>
        </p:spPr>
      </p:pic>
      <p:pic>
        <p:nvPicPr>
          <p:cNvPr id="11" name="Image 9" descr="preencoded.png"/>
          <p:cNvPicPr>
            <a:picLocks noChangeAspect="1"/>
          </p:cNvPicPr>
          <p:nvPr/>
        </p:nvPicPr>
        <p:blipFill>
          <a:blip r:embed="rId10"/>
          <a:stretch>
            <a:fillRect/>
          </a:stretch>
        </p:blipFill>
        <p:spPr>
          <a:xfrm>
            <a:off x="609600" y="4000500"/>
            <a:ext cx="323850" cy="666750"/>
          </a:xfrm>
          <a:prstGeom prst="rect">
            <a:avLst/>
          </a:prstGeom>
        </p:spPr>
      </p:pic>
      <p:pic>
        <p:nvPicPr>
          <p:cNvPr id="12" name="Image 10" descr="preencoded.png"/>
          <p:cNvPicPr>
            <a:picLocks noChangeAspect="1"/>
          </p:cNvPicPr>
          <p:nvPr/>
        </p:nvPicPr>
        <p:blipFill>
          <a:blip r:embed="rId11"/>
          <a:stretch>
            <a:fillRect/>
          </a:stretch>
        </p:blipFill>
        <p:spPr>
          <a:xfrm>
            <a:off x="609600" y="4162425"/>
            <a:ext cx="323850" cy="342900"/>
          </a:xfrm>
          <a:prstGeom prst="rect">
            <a:avLst/>
          </a:prstGeom>
        </p:spPr>
      </p:pic>
      <p:pic>
        <p:nvPicPr>
          <p:cNvPr id="13" name="Image 11" descr="preencoded.png"/>
          <p:cNvPicPr>
            <a:picLocks noChangeAspect="1"/>
          </p:cNvPicPr>
          <p:nvPr/>
        </p:nvPicPr>
        <p:blipFill>
          <a:blip r:embed="rId5"/>
          <a:stretch>
            <a:fillRect/>
          </a:stretch>
        </p:blipFill>
        <p:spPr>
          <a:xfrm>
            <a:off x="6248400" y="3771900"/>
            <a:ext cx="5562600" cy="2286000"/>
          </a:xfrm>
          <a:prstGeom prst="rect">
            <a:avLst/>
          </a:prstGeom>
        </p:spPr>
      </p:pic>
      <p:pic>
        <p:nvPicPr>
          <p:cNvPr id="14" name="Image 12" descr="preencoded.png"/>
          <p:cNvPicPr>
            <a:picLocks noChangeAspect="1"/>
          </p:cNvPicPr>
          <p:nvPr/>
        </p:nvPicPr>
        <p:blipFill>
          <a:blip r:embed="rId12"/>
          <a:stretch>
            <a:fillRect/>
          </a:stretch>
        </p:blipFill>
        <p:spPr>
          <a:xfrm>
            <a:off x="6477000" y="4000500"/>
            <a:ext cx="361950" cy="666750"/>
          </a:xfrm>
          <a:prstGeom prst="rect">
            <a:avLst/>
          </a:prstGeom>
        </p:spPr>
      </p:pic>
      <p:pic>
        <p:nvPicPr>
          <p:cNvPr id="15" name="Image 13" descr="preencoded.png"/>
          <p:cNvPicPr>
            <a:picLocks noChangeAspect="1"/>
          </p:cNvPicPr>
          <p:nvPr/>
        </p:nvPicPr>
        <p:blipFill>
          <a:blip r:embed="rId13"/>
          <a:stretch>
            <a:fillRect/>
          </a:stretch>
        </p:blipFill>
        <p:spPr>
          <a:xfrm>
            <a:off x="6477000" y="4162425"/>
            <a:ext cx="361950" cy="342900"/>
          </a:xfrm>
          <a:prstGeom prst="rect">
            <a:avLst/>
          </a:prstGeom>
        </p:spPr>
      </p:pic>
      <p:sp>
        <p:nvSpPr>
          <p:cNvPr id="16"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Pourquoi Dagster ?</a:t>
            </a:r>
            <a:endParaRPr lang="en-US" sz="2700" dirty="0"/>
          </a:p>
        </p:txBody>
      </p:sp>
      <p:sp>
        <p:nvSpPr>
          <p:cNvPr id="17" name="Text 1"/>
          <p:cNvSpPr/>
          <p:nvPr/>
        </p:nvSpPr>
        <p:spPr>
          <a:xfrm>
            <a:off x="1047750" y="1409700"/>
            <a:ext cx="466725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Fiabilité</a:t>
            </a:r>
            <a:endParaRPr lang="en-US" sz="1800" dirty="0"/>
          </a:p>
        </p:txBody>
      </p:sp>
      <p:sp>
        <p:nvSpPr>
          <p:cNvPr id="18" name="Text 2"/>
          <p:cNvSpPr/>
          <p:nvPr/>
        </p:nvSpPr>
        <p:spPr>
          <a:xfrm>
            <a:off x="1047750" y="1790700"/>
            <a:ext cx="46672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Conçu pour la robustesse avec des mécanismes de gestion des dépendances, de re-tentative automatique en cas d'échec et de gestion des erreurs. L'approche centrée sur les "assets" garantit que les données sont à jour et cohérentes.</a:t>
            </a:r>
            <a:endParaRPr lang="en-US" sz="1200" dirty="0"/>
          </a:p>
        </p:txBody>
      </p:sp>
      <p:sp>
        <p:nvSpPr>
          <p:cNvPr id="19" name="Text 3"/>
          <p:cNvSpPr/>
          <p:nvPr/>
        </p:nvSpPr>
        <p:spPr>
          <a:xfrm>
            <a:off x="6953250" y="1409700"/>
            <a:ext cx="462915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Observabilité</a:t>
            </a:r>
            <a:endParaRPr lang="en-US" sz="1800" dirty="0"/>
          </a:p>
        </p:txBody>
      </p:sp>
      <p:sp>
        <p:nvSpPr>
          <p:cNvPr id="20" name="Text 4"/>
          <p:cNvSpPr/>
          <p:nvPr/>
        </p:nvSpPr>
        <p:spPr>
          <a:xfrm>
            <a:off x="6953250" y="1790700"/>
            <a:ext cx="46291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Fournit une visibilité en temps réel sur l'état des workflows, permettant d'identifier rapidement les goulots d'étranglement. Intègre un système de journalisation robuste, un catalogue de données intégré, la lignée des assets et des contrôles de qualité.</a:t>
            </a:r>
            <a:endParaRPr lang="en-US" sz="1200" dirty="0"/>
          </a:p>
        </p:txBody>
      </p:sp>
      <p:sp>
        <p:nvSpPr>
          <p:cNvPr id="21" name="Text 5"/>
          <p:cNvSpPr/>
          <p:nvPr/>
        </p:nvSpPr>
        <p:spPr>
          <a:xfrm>
            <a:off x="1085850" y="4000500"/>
            <a:ext cx="462915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Modularité</a:t>
            </a:r>
            <a:endParaRPr lang="en-US" sz="1800" dirty="0"/>
          </a:p>
        </p:txBody>
      </p:sp>
      <p:sp>
        <p:nvSpPr>
          <p:cNvPr id="22" name="Text 6"/>
          <p:cNvSpPr/>
          <p:nvPr/>
        </p:nvSpPr>
        <p:spPr>
          <a:xfrm>
            <a:off x="1085850" y="4381500"/>
            <a:ext cx="46291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Encourage une architecture modulaire et réutilisable. Les pipelines peuvent être décomposés en tâches ou composants plus petits et réutilisables, ce qui favorise l'efficacité et la cohérence. Cette modularité accélère le développement et simplifie la maintenance.</a:t>
            </a:r>
            <a:endParaRPr lang="en-US" sz="1200" dirty="0"/>
          </a:p>
        </p:txBody>
      </p:sp>
      <p:sp>
        <p:nvSpPr>
          <p:cNvPr id="23" name="Text 7"/>
          <p:cNvSpPr/>
          <p:nvPr/>
        </p:nvSpPr>
        <p:spPr>
          <a:xfrm>
            <a:off x="6991350" y="4000500"/>
            <a:ext cx="55092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Facilité d'intégration</a:t>
            </a:r>
            <a:endParaRPr lang="en-US" sz="1800" dirty="0"/>
          </a:p>
        </p:txBody>
      </p:sp>
      <p:sp>
        <p:nvSpPr>
          <p:cNvPr id="24" name="Text 8"/>
          <p:cNvSpPr/>
          <p:nvPr/>
        </p:nvSpPr>
        <p:spPr>
          <a:xfrm>
            <a:off x="6991350" y="4381500"/>
            <a:ext cx="45910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Bibliothèque d'intégrations avec les outils de données les plus populaires, y compris les principaux fournisseurs de cloud (AWS, GCP, Azure), les outils ETL (Fivetran, Airbyte, dlt, Sling) et les outils de BI (Tableau, Power BI, Looker, Sigma).</a:t>
            </a:r>
            <a:endParaRPr lang="en-US" sz="1200" dirty="0"/>
          </a:p>
        </p:txBody>
      </p:sp>
      <p:sp>
        <p:nvSpPr>
          <p:cNvPr id="25" name="Text 9"/>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26" name="Text 10"/>
          <p:cNvSpPr/>
          <p:nvPr/>
        </p:nvSpPr>
        <p:spPr>
          <a:xfrm>
            <a:off x="11360944" y="6286500"/>
            <a:ext cx="54006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381000" y="1066800"/>
            <a:ext cx="3657600" cy="2209800"/>
          </a:xfrm>
          <a:prstGeom prst="rect">
            <a:avLst/>
          </a:prstGeom>
        </p:spPr>
      </p:pic>
      <p:pic>
        <p:nvPicPr>
          <p:cNvPr id="5" name="Image 3" descr="preencoded.png"/>
          <p:cNvPicPr>
            <a:picLocks noChangeAspect="1"/>
          </p:cNvPicPr>
          <p:nvPr/>
        </p:nvPicPr>
        <p:blipFill>
          <a:blip r:embed="rId6"/>
          <a:stretch>
            <a:fillRect/>
          </a:stretch>
        </p:blipFill>
        <p:spPr>
          <a:xfrm>
            <a:off x="571500" y="1257300"/>
            <a:ext cx="247650" cy="342900"/>
          </a:xfrm>
          <a:prstGeom prst="rect">
            <a:avLst/>
          </a:prstGeom>
        </p:spPr>
      </p:pic>
      <p:pic>
        <p:nvPicPr>
          <p:cNvPr id="6" name="Image 4" descr="preencoded.png"/>
          <p:cNvPicPr>
            <a:picLocks noChangeAspect="1"/>
          </p:cNvPicPr>
          <p:nvPr/>
        </p:nvPicPr>
        <p:blipFill>
          <a:blip r:embed="rId7"/>
          <a:stretch>
            <a:fillRect/>
          </a:stretch>
        </p:blipFill>
        <p:spPr>
          <a:xfrm>
            <a:off x="571500" y="2686050"/>
            <a:ext cx="114300" cy="133350"/>
          </a:xfrm>
          <a:prstGeom prst="rect">
            <a:avLst/>
          </a:prstGeom>
        </p:spPr>
      </p:pic>
      <p:pic>
        <p:nvPicPr>
          <p:cNvPr id="7" name="Image 5" descr="preencoded.png"/>
          <p:cNvPicPr>
            <a:picLocks noChangeAspect="1"/>
          </p:cNvPicPr>
          <p:nvPr/>
        </p:nvPicPr>
        <p:blipFill>
          <a:blip r:embed="rId5"/>
          <a:stretch>
            <a:fillRect/>
          </a:stretch>
        </p:blipFill>
        <p:spPr>
          <a:xfrm>
            <a:off x="4267200" y="1066800"/>
            <a:ext cx="3657600" cy="2209800"/>
          </a:xfrm>
          <a:prstGeom prst="rect">
            <a:avLst/>
          </a:prstGeom>
        </p:spPr>
      </p:pic>
      <p:pic>
        <p:nvPicPr>
          <p:cNvPr id="8" name="Image 6" descr="preencoded.png"/>
          <p:cNvPicPr>
            <a:picLocks noChangeAspect="1"/>
          </p:cNvPicPr>
          <p:nvPr/>
        </p:nvPicPr>
        <p:blipFill>
          <a:blip r:embed="rId8"/>
          <a:stretch>
            <a:fillRect/>
          </a:stretch>
        </p:blipFill>
        <p:spPr>
          <a:xfrm>
            <a:off x="4457700" y="1257300"/>
            <a:ext cx="285750" cy="342900"/>
          </a:xfrm>
          <a:prstGeom prst="rect">
            <a:avLst/>
          </a:prstGeom>
        </p:spPr>
      </p:pic>
      <p:pic>
        <p:nvPicPr>
          <p:cNvPr id="9" name="Image 7" descr="preencoded.png"/>
          <p:cNvPicPr>
            <a:picLocks noChangeAspect="1"/>
          </p:cNvPicPr>
          <p:nvPr/>
        </p:nvPicPr>
        <p:blipFill>
          <a:blip r:embed="rId7"/>
          <a:stretch>
            <a:fillRect/>
          </a:stretch>
        </p:blipFill>
        <p:spPr>
          <a:xfrm>
            <a:off x="4457700" y="2686050"/>
            <a:ext cx="114300" cy="133350"/>
          </a:xfrm>
          <a:prstGeom prst="rect">
            <a:avLst/>
          </a:prstGeom>
        </p:spPr>
      </p:pic>
      <p:pic>
        <p:nvPicPr>
          <p:cNvPr id="10" name="Image 8" descr="preencoded.png"/>
          <p:cNvPicPr>
            <a:picLocks noChangeAspect="1"/>
          </p:cNvPicPr>
          <p:nvPr/>
        </p:nvPicPr>
        <p:blipFill>
          <a:blip r:embed="rId5"/>
          <a:stretch>
            <a:fillRect/>
          </a:stretch>
        </p:blipFill>
        <p:spPr>
          <a:xfrm>
            <a:off x="8153400" y="1066800"/>
            <a:ext cx="3657600" cy="2209800"/>
          </a:xfrm>
          <a:prstGeom prst="rect">
            <a:avLst/>
          </a:prstGeom>
        </p:spPr>
      </p:pic>
      <p:pic>
        <p:nvPicPr>
          <p:cNvPr id="11" name="Image 9" descr="preencoded.png"/>
          <p:cNvPicPr>
            <a:picLocks noChangeAspect="1"/>
          </p:cNvPicPr>
          <p:nvPr/>
        </p:nvPicPr>
        <p:blipFill>
          <a:blip r:embed="rId9"/>
          <a:stretch>
            <a:fillRect/>
          </a:stretch>
        </p:blipFill>
        <p:spPr>
          <a:xfrm>
            <a:off x="8343900" y="1257300"/>
            <a:ext cx="323850" cy="342900"/>
          </a:xfrm>
          <a:prstGeom prst="rect">
            <a:avLst/>
          </a:prstGeom>
        </p:spPr>
      </p:pic>
      <p:pic>
        <p:nvPicPr>
          <p:cNvPr id="12" name="Image 10" descr="preencoded.png"/>
          <p:cNvPicPr>
            <a:picLocks noChangeAspect="1"/>
          </p:cNvPicPr>
          <p:nvPr/>
        </p:nvPicPr>
        <p:blipFill>
          <a:blip r:embed="rId7"/>
          <a:stretch>
            <a:fillRect/>
          </a:stretch>
        </p:blipFill>
        <p:spPr>
          <a:xfrm>
            <a:off x="8343900" y="2914650"/>
            <a:ext cx="114300" cy="133350"/>
          </a:xfrm>
          <a:prstGeom prst="rect">
            <a:avLst/>
          </a:prstGeom>
        </p:spPr>
      </p:pic>
      <p:pic>
        <p:nvPicPr>
          <p:cNvPr id="13" name="Image 11" descr="preencoded.png"/>
          <p:cNvPicPr>
            <a:picLocks noChangeAspect="1"/>
          </p:cNvPicPr>
          <p:nvPr/>
        </p:nvPicPr>
        <p:blipFill>
          <a:blip r:embed="rId10"/>
          <a:stretch>
            <a:fillRect/>
          </a:stretch>
        </p:blipFill>
        <p:spPr>
          <a:xfrm>
            <a:off x="381000" y="3429000"/>
            <a:ext cx="11430000" cy="2190750"/>
          </a:xfrm>
          <a:prstGeom prst="rect">
            <a:avLst/>
          </a:prstGeom>
        </p:spPr>
      </p:pic>
      <p:pic>
        <p:nvPicPr>
          <p:cNvPr id="14" name="Image 12" descr="preencoded.png"/>
          <p:cNvPicPr>
            <a:picLocks noChangeAspect="1"/>
          </p:cNvPicPr>
          <p:nvPr/>
        </p:nvPicPr>
        <p:blipFill>
          <a:blip r:embed="rId11"/>
          <a:stretch>
            <a:fillRect/>
          </a:stretch>
        </p:blipFill>
        <p:spPr>
          <a:xfrm>
            <a:off x="1009650" y="4038600"/>
            <a:ext cx="1714500" cy="666750"/>
          </a:xfrm>
          <a:prstGeom prst="rect">
            <a:avLst/>
          </a:prstGeom>
        </p:spPr>
      </p:pic>
      <p:pic>
        <p:nvPicPr>
          <p:cNvPr id="15" name="Image 13" descr="preencoded.png"/>
          <p:cNvPicPr>
            <a:picLocks noChangeAspect="1"/>
          </p:cNvPicPr>
          <p:nvPr/>
        </p:nvPicPr>
        <p:blipFill>
          <a:blip r:embed="rId12"/>
          <a:stretch>
            <a:fillRect/>
          </a:stretch>
        </p:blipFill>
        <p:spPr>
          <a:xfrm>
            <a:off x="1771650" y="4162425"/>
            <a:ext cx="190500" cy="152400"/>
          </a:xfrm>
          <a:prstGeom prst="rect">
            <a:avLst/>
          </a:prstGeom>
        </p:spPr>
      </p:pic>
      <p:pic>
        <p:nvPicPr>
          <p:cNvPr id="16" name="Image 14" descr="preencoded.png"/>
          <p:cNvPicPr>
            <a:picLocks noChangeAspect="1"/>
          </p:cNvPicPr>
          <p:nvPr/>
        </p:nvPicPr>
        <p:blipFill>
          <a:blip r:embed="rId13"/>
          <a:stretch>
            <a:fillRect/>
          </a:stretch>
        </p:blipFill>
        <p:spPr>
          <a:xfrm>
            <a:off x="2819400" y="4371975"/>
            <a:ext cx="762000" cy="28575"/>
          </a:xfrm>
          <a:prstGeom prst="rect">
            <a:avLst/>
          </a:prstGeom>
        </p:spPr>
      </p:pic>
      <p:pic>
        <p:nvPicPr>
          <p:cNvPr id="17" name="Image 15" descr="preencoded.png"/>
          <p:cNvPicPr>
            <a:picLocks noChangeAspect="1"/>
          </p:cNvPicPr>
          <p:nvPr/>
        </p:nvPicPr>
        <p:blipFill>
          <a:blip r:embed="rId14"/>
          <a:stretch>
            <a:fillRect/>
          </a:stretch>
        </p:blipFill>
        <p:spPr>
          <a:xfrm>
            <a:off x="3676650" y="4038600"/>
            <a:ext cx="1714500" cy="666750"/>
          </a:xfrm>
          <a:prstGeom prst="rect">
            <a:avLst/>
          </a:prstGeom>
        </p:spPr>
      </p:pic>
      <p:pic>
        <p:nvPicPr>
          <p:cNvPr id="18" name="Image 16" descr="preencoded.png"/>
          <p:cNvPicPr>
            <a:picLocks noChangeAspect="1"/>
          </p:cNvPicPr>
          <p:nvPr/>
        </p:nvPicPr>
        <p:blipFill>
          <a:blip r:embed="rId15"/>
          <a:stretch>
            <a:fillRect/>
          </a:stretch>
        </p:blipFill>
        <p:spPr>
          <a:xfrm>
            <a:off x="4438650" y="4048125"/>
            <a:ext cx="190500" cy="152400"/>
          </a:xfrm>
          <a:prstGeom prst="rect">
            <a:avLst/>
          </a:prstGeom>
        </p:spPr>
      </p:pic>
      <p:pic>
        <p:nvPicPr>
          <p:cNvPr id="19" name="Image 17" descr="preencoded.png"/>
          <p:cNvPicPr>
            <a:picLocks noChangeAspect="1"/>
          </p:cNvPicPr>
          <p:nvPr/>
        </p:nvPicPr>
        <p:blipFill>
          <a:blip r:embed="rId13"/>
          <a:stretch>
            <a:fillRect/>
          </a:stretch>
        </p:blipFill>
        <p:spPr>
          <a:xfrm>
            <a:off x="5486400" y="4371975"/>
            <a:ext cx="762000" cy="28575"/>
          </a:xfrm>
          <a:prstGeom prst="rect">
            <a:avLst/>
          </a:prstGeom>
        </p:spPr>
      </p:pic>
      <p:pic>
        <p:nvPicPr>
          <p:cNvPr id="20" name="Image 18" descr="preencoded.png"/>
          <p:cNvPicPr>
            <a:picLocks noChangeAspect="1"/>
          </p:cNvPicPr>
          <p:nvPr/>
        </p:nvPicPr>
        <p:blipFill>
          <a:blip r:embed="rId16"/>
          <a:stretch>
            <a:fillRect/>
          </a:stretch>
        </p:blipFill>
        <p:spPr>
          <a:xfrm>
            <a:off x="6343650" y="4038600"/>
            <a:ext cx="1714500" cy="666750"/>
          </a:xfrm>
          <a:prstGeom prst="rect">
            <a:avLst/>
          </a:prstGeom>
        </p:spPr>
      </p:pic>
      <p:pic>
        <p:nvPicPr>
          <p:cNvPr id="21" name="Image 19" descr="preencoded.png"/>
          <p:cNvPicPr>
            <a:picLocks noChangeAspect="1"/>
          </p:cNvPicPr>
          <p:nvPr/>
        </p:nvPicPr>
        <p:blipFill>
          <a:blip r:embed="rId17"/>
          <a:stretch>
            <a:fillRect/>
          </a:stretch>
        </p:blipFill>
        <p:spPr>
          <a:xfrm>
            <a:off x="7115175" y="4162425"/>
            <a:ext cx="171450" cy="152400"/>
          </a:xfrm>
          <a:prstGeom prst="rect">
            <a:avLst/>
          </a:prstGeom>
        </p:spPr>
      </p:pic>
      <p:pic>
        <p:nvPicPr>
          <p:cNvPr id="22" name="Image 20" descr="preencoded.png"/>
          <p:cNvPicPr>
            <a:picLocks noChangeAspect="1"/>
          </p:cNvPicPr>
          <p:nvPr/>
        </p:nvPicPr>
        <p:blipFill>
          <a:blip r:embed="rId18"/>
          <a:stretch>
            <a:fillRect/>
          </a:stretch>
        </p:blipFill>
        <p:spPr>
          <a:xfrm>
            <a:off x="8153400" y="4371975"/>
            <a:ext cx="762000" cy="28575"/>
          </a:xfrm>
          <a:prstGeom prst="rect">
            <a:avLst/>
          </a:prstGeom>
        </p:spPr>
      </p:pic>
      <p:pic>
        <p:nvPicPr>
          <p:cNvPr id="23" name="Image 21" descr="preencoded.png"/>
          <p:cNvPicPr>
            <a:picLocks noChangeAspect="1"/>
          </p:cNvPicPr>
          <p:nvPr/>
        </p:nvPicPr>
        <p:blipFill>
          <a:blip r:embed="rId19"/>
          <a:stretch>
            <a:fillRect/>
          </a:stretch>
        </p:blipFill>
        <p:spPr>
          <a:xfrm>
            <a:off x="9010650" y="4038600"/>
            <a:ext cx="1714500" cy="666750"/>
          </a:xfrm>
          <a:prstGeom prst="rect">
            <a:avLst/>
          </a:prstGeom>
        </p:spPr>
      </p:pic>
      <p:pic>
        <p:nvPicPr>
          <p:cNvPr id="24" name="Image 22" descr="preencoded.png"/>
          <p:cNvPicPr>
            <a:picLocks noChangeAspect="1"/>
          </p:cNvPicPr>
          <p:nvPr/>
        </p:nvPicPr>
        <p:blipFill>
          <a:blip r:embed="rId20"/>
          <a:stretch>
            <a:fillRect/>
          </a:stretch>
        </p:blipFill>
        <p:spPr>
          <a:xfrm>
            <a:off x="9810750" y="4048125"/>
            <a:ext cx="114300" cy="152400"/>
          </a:xfrm>
          <a:prstGeom prst="rect">
            <a:avLst/>
          </a:prstGeom>
        </p:spPr>
      </p:pic>
      <p:sp>
        <p:nvSpPr>
          <p:cNvPr id="25"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Concepts clés</a:t>
            </a:r>
            <a:endParaRPr lang="en-US" sz="2700" dirty="0"/>
          </a:p>
        </p:txBody>
      </p:sp>
      <p:sp>
        <p:nvSpPr>
          <p:cNvPr id="26" name="Text 1"/>
          <p:cNvSpPr/>
          <p:nvPr/>
        </p:nvSpPr>
        <p:spPr>
          <a:xfrm>
            <a:off x="933450" y="1295400"/>
            <a:ext cx="84957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Assets</a:t>
            </a:r>
            <a:endParaRPr lang="en-US" sz="1500" dirty="0"/>
          </a:p>
        </p:txBody>
      </p:sp>
      <p:sp>
        <p:nvSpPr>
          <p:cNvPr id="27" name="Text 2"/>
          <p:cNvSpPr/>
          <p:nvPr/>
        </p:nvSpPr>
        <p:spPr>
          <a:xfrm>
            <a:off x="571500" y="1676400"/>
            <a:ext cx="32766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Objets de données produits, consommés ou mis à jour par vos pipelines. Peuvent être des tables, des fichiers, des modèles ML ou des rapports.</a:t>
            </a:r>
            <a:endParaRPr lang="en-US" sz="1200" dirty="0"/>
          </a:p>
        </p:txBody>
      </p:sp>
      <p:sp>
        <p:nvSpPr>
          <p:cNvPr id="28" name="Text 3"/>
          <p:cNvSpPr/>
          <p:nvPr/>
        </p:nvSpPr>
        <p:spPr>
          <a:xfrm>
            <a:off x="766316" y="2686050"/>
            <a:ext cx="2664083" cy="152400"/>
          </a:xfrm>
          <a:prstGeom prst="rect">
            <a:avLst/>
          </a:prstGeom>
          <a:noFill/>
          <a:ln/>
        </p:spPr>
        <p:txBody>
          <a:bodyPr vert="horz" wrap="square" lIns="0" tIns="0" rIns="0" bIns="0" rtlCol="0" anchor="t"/>
          <a:lstStyle/>
          <a:p>
            <a:pPr marL="0" indent="0">
              <a:lnSpc>
                <a:spcPts val="1500"/>
              </a:lnSpc>
              <a:buNone/>
            </a:pPr>
            <a:r>
              <a:rPr lang="en-US" sz="1050" dirty="0">
                <a:solidFill>
                  <a:srgbClr val="2563EB"/>
                </a:solidFill>
                <a:latin typeface="ui-sans-serif" pitchFamily="34" charset="0"/>
                <a:ea typeface="ui-sans-serif" pitchFamily="34" charset="-122"/>
                <a:cs typeface="ui-sans-serif" pitchFamily="34" charset="-120"/>
              </a:rPr>
              <a:t>Gestion de la lignée des données</a:t>
            </a:r>
            <a:endParaRPr lang="en-US" sz="1050" dirty="0"/>
          </a:p>
        </p:txBody>
      </p:sp>
      <p:sp>
        <p:nvSpPr>
          <p:cNvPr id="29" name="Text 4"/>
          <p:cNvSpPr/>
          <p:nvPr/>
        </p:nvSpPr>
        <p:spPr>
          <a:xfrm>
            <a:off x="4857750" y="1295400"/>
            <a:ext cx="541853"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Jobs</a:t>
            </a:r>
            <a:endParaRPr lang="en-US" sz="1500" dirty="0"/>
          </a:p>
        </p:txBody>
      </p:sp>
      <p:sp>
        <p:nvSpPr>
          <p:cNvPr id="30" name="Text 5"/>
          <p:cNvSpPr/>
          <p:nvPr/>
        </p:nvSpPr>
        <p:spPr>
          <a:xfrm>
            <a:off x="4457700" y="1676400"/>
            <a:ext cx="32766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Représente une exécution de pipeline. Unité principale d'exécution et de surveillance des définitions d'actifs dans Dagster. Peut cibler des actifs spécifiques.</a:t>
            </a:r>
            <a:endParaRPr lang="en-US" sz="1200" dirty="0"/>
          </a:p>
        </p:txBody>
      </p:sp>
      <p:sp>
        <p:nvSpPr>
          <p:cNvPr id="31" name="Text 6"/>
          <p:cNvSpPr/>
          <p:nvPr/>
        </p:nvSpPr>
        <p:spPr>
          <a:xfrm>
            <a:off x="4652516" y="2686050"/>
            <a:ext cx="2480131" cy="152400"/>
          </a:xfrm>
          <a:prstGeom prst="rect">
            <a:avLst/>
          </a:prstGeom>
          <a:noFill/>
          <a:ln/>
        </p:spPr>
        <p:txBody>
          <a:bodyPr vert="horz" wrap="square" lIns="0" tIns="0" rIns="0" bIns="0" rtlCol="0" anchor="t"/>
          <a:lstStyle/>
          <a:p>
            <a:pPr marL="0" indent="0">
              <a:lnSpc>
                <a:spcPts val="1500"/>
              </a:lnSpc>
              <a:buNone/>
            </a:pPr>
            <a:r>
              <a:rPr lang="en-US" sz="1050" dirty="0">
                <a:solidFill>
                  <a:srgbClr val="2563EB"/>
                </a:solidFill>
                <a:latin typeface="ui-sans-serif" pitchFamily="34" charset="0"/>
                <a:ea typeface="ui-sans-serif" pitchFamily="34" charset="-122"/>
                <a:cs typeface="ui-sans-serif" pitchFamily="34" charset="-120"/>
              </a:rPr>
              <a:t>Coordination des dépendances</a:t>
            </a:r>
            <a:endParaRPr lang="en-US" sz="1050" dirty="0"/>
          </a:p>
        </p:txBody>
      </p:sp>
      <p:sp>
        <p:nvSpPr>
          <p:cNvPr id="32" name="Text 7"/>
          <p:cNvSpPr/>
          <p:nvPr/>
        </p:nvSpPr>
        <p:spPr>
          <a:xfrm>
            <a:off x="8782050" y="1295400"/>
            <a:ext cx="69544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Dagit</a:t>
            </a:r>
            <a:endParaRPr lang="en-US" sz="1500" dirty="0"/>
          </a:p>
        </p:txBody>
      </p:sp>
      <p:sp>
        <p:nvSpPr>
          <p:cNvPr id="33" name="Text 8"/>
          <p:cNvSpPr/>
          <p:nvPr/>
        </p:nvSpPr>
        <p:spPr>
          <a:xfrm>
            <a:off x="8343900" y="1676400"/>
            <a:ext cx="32766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Interface utilisateur web de Dagster. fournit une vue interactive des pipelines, permettant de visualiser les actifs, de surveiller les exécutions et de gérer les logs.</a:t>
            </a:r>
            <a:endParaRPr lang="en-US" sz="1200" dirty="0"/>
          </a:p>
        </p:txBody>
      </p:sp>
      <p:sp>
        <p:nvSpPr>
          <p:cNvPr id="34" name="Text 9"/>
          <p:cNvSpPr/>
          <p:nvPr/>
        </p:nvSpPr>
        <p:spPr>
          <a:xfrm>
            <a:off x="8538716" y="2914650"/>
            <a:ext cx="1917025" cy="152400"/>
          </a:xfrm>
          <a:prstGeom prst="rect">
            <a:avLst/>
          </a:prstGeom>
          <a:noFill/>
          <a:ln/>
        </p:spPr>
        <p:txBody>
          <a:bodyPr vert="horz" wrap="square" lIns="0" tIns="0" rIns="0" bIns="0" rtlCol="0" anchor="t"/>
          <a:lstStyle/>
          <a:p>
            <a:pPr marL="0" indent="0">
              <a:lnSpc>
                <a:spcPts val="1500"/>
              </a:lnSpc>
              <a:buNone/>
            </a:pPr>
            <a:r>
              <a:rPr lang="en-US" sz="1050" dirty="0">
                <a:solidFill>
                  <a:srgbClr val="2563EB"/>
                </a:solidFill>
                <a:latin typeface="ui-sans-serif" pitchFamily="34" charset="0"/>
                <a:ea typeface="ui-sans-serif" pitchFamily="34" charset="-122"/>
                <a:cs typeface="ui-sans-serif" pitchFamily="34" charset="-120"/>
              </a:rPr>
              <a:t>Observabilité et gestion</a:t>
            </a:r>
            <a:endParaRPr lang="en-US" sz="1050" dirty="0"/>
          </a:p>
        </p:txBody>
      </p:sp>
      <p:sp>
        <p:nvSpPr>
          <p:cNvPr id="35" name="Text 10"/>
          <p:cNvSpPr/>
          <p:nvPr/>
        </p:nvSpPr>
        <p:spPr>
          <a:xfrm>
            <a:off x="533400" y="3581400"/>
            <a:ext cx="111252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Diagramme de workflow</a:t>
            </a:r>
            <a:endParaRPr lang="en-US" sz="1350" dirty="0"/>
          </a:p>
        </p:txBody>
      </p:sp>
      <p:sp>
        <p:nvSpPr>
          <p:cNvPr id="36" name="Text 11"/>
          <p:cNvSpPr/>
          <p:nvPr/>
        </p:nvSpPr>
        <p:spPr>
          <a:xfrm>
            <a:off x="1321594" y="4352925"/>
            <a:ext cx="1308556"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Code Python</a:t>
            </a:r>
            <a:endParaRPr lang="en-US" sz="1200" dirty="0"/>
          </a:p>
        </p:txBody>
      </p:sp>
      <p:sp>
        <p:nvSpPr>
          <p:cNvPr id="37" name="Text 12"/>
          <p:cNvSpPr/>
          <p:nvPr/>
        </p:nvSpPr>
        <p:spPr>
          <a:xfrm>
            <a:off x="3676650" y="4238625"/>
            <a:ext cx="1714500" cy="4572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Dagster Assets/Jobs</a:t>
            </a:r>
            <a:endParaRPr lang="en-US" sz="1200" dirty="0"/>
          </a:p>
        </p:txBody>
      </p:sp>
      <p:sp>
        <p:nvSpPr>
          <p:cNvPr id="38" name="Text 13"/>
          <p:cNvSpPr/>
          <p:nvPr/>
        </p:nvSpPr>
        <p:spPr>
          <a:xfrm>
            <a:off x="6969026" y="4352925"/>
            <a:ext cx="55632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Dagit</a:t>
            </a:r>
            <a:endParaRPr lang="en-US" sz="1200" dirty="0"/>
          </a:p>
        </p:txBody>
      </p:sp>
      <p:sp>
        <p:nvSpPr>
          <p:cNvPr id="39" name="Text 14"/>
          <p:cNvSpPr/>
          <p:nvPr/>
        </p:nvSpPr>
        <p:spPr>
          <a:xfrm>
            <a:off x="9010650" y="4238625"/>
            <a:ext cx="1714500" cy="4572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Logs / CSV / Rapports</a:t>
            </a:r>
            <a:endParaRPr lang="en-US" sz="1200" dirty="0"/>
          </a:p>
        </p:txBody>
      </p:sp>
      <p:sp>
        <p:nvSpPr>
          <p:cNvPr id="40" name="Text 15"/>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41" name="Text 16"/>
          <p:cNvSpPr/>
          <p:nvPr/>
        </p:nvSpPr>
        <p:spPr>
          <a:xfrm>
            <a:off x="11360944" y="6286500"/>
            <a:ext cx="54006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1333500" y="2343150"/>
            <a:ext cx="1714500" cy="952500"/>
          </a:xfrm>
          <a:prstGeom prst="rect">
            <a:avLst/>
          </a:prstGeom>
        </p:spPr>
      </p:pic>
      <p:pic>
        <p:nvPicPr>
          <p:cNvPr id="5" name="Image 3" descr="preencoded.png"/>
          <p:cNvPicPr>
            <a:picLocks noChangeAspect="1"/>
          </p:cNvPicPr>
          <p:nvPr/>
        </p:nvPicPr>
        <p:blipFill>
          <a:blip r:embed="rId6"/>
          <a:stretch>
            <a:fillRect/>
          </a:stretch>
        </p:blipFill>
        <p:spPr>
          <a:xfrm>
            <a:off x="2047875" y="2514600"/>
            <a:ext cx="285750" cy="304800"/>
          </a:xfrm>
          <a:prstGeom prst="rect">
            <a:avLst/>
          </a:prstGeom>
        </p:spPr>
      </p:pic>
      <p:pic>
        <p:nvPicPr>
          <p:cNvPr id="6" name="Image 4" descr="preencoded.png"/>
          <p:cNvPicPr>
            <a:picLocks noChangeAspect="1"/>
          </p:cNvPicPr>
          <p:nvPr/>
        </p:nvPicPr>
        <p:blipFill>
          <a:blip r:embed="rId7"/>
          <a:stretch>
            <a:fillRect/>
          </a:stretch>
        </p:blipFill>
        <p:spPr>
          <a:xfrm>
            <a:off x="3048000" y="2752725"/>
            <a:ext cx="1524000" cy="38100"/>
          </a:xfrm>
          <a:prstGeom prst="rect">
            <a:avLst/>
          </a:prstGeom>
        </p:spPr>
      </p:pic>
      <p:pic>
        <p:nvPicPr>
          <p:cNvPr id="7" name="Image 5" descr="preencoded.png"/>
          <p:cNvPicPr>
            <a:picLocks noChangeAspect="1"/>
          </p:cNvPicPr>
          <p:nvPr/>
        </p:nvPicPr>
        <p:blipFill>
          <a:blip r:embed="rId8"/>
          <a:stretch>
            <a:fillRect/>
          </a:stretch>
        </p:blipFill>
        <p:spPr>
          <a:xfrm>
            <a:off x="3429000" y="2152650"/>
            <a:ext cx="867668" cy="276225"/>
          </a:xfrm>
          <a:prstGeom prst="rect">
            <a:avLst/>
          </a:prstGeom>
        </p:spPr>
      </p:pic>
      <p:pic>
        <p:nvPicPr>
          <p:cNvPr id="8" name="Image 6" descr="preencoded.png"/>
          <p:cNvPicPr>
            <a:picLocks noChangeAspect="1"/>
          </p:cNvPicPr>
          <p:nvPr/>
        </p:nvPicPr>
        <p:blipFill>
          <a:blip r:embed="rId9"/>
          <a:stretch>
            <a:fillRect/>
          </a:stretch>
        </p:blipFill>
        <p:spPr>
          <a:xfrm>
            <a:off x="4572000" y="2343150"/>
            <a:ext cx="1714500" cy="952500"/>
          </a:xfrm>
          <a:prstGeom prst="rect">
            <a:avLst/>
          </a:prstGeom>
        </p:spPr>
      </p:pic>
      <p:pic>
        <p:nvPicPr>
          <p:cNvPr id="9" name="Image 7" descr="preencoded.png"/>
          <p:cNvPicPr>
            <a:picLocks noChangeAspect="1"/>
          </p:cNvPicPr>
          <p:nvPr/>
        </p:nvPicPr>
        <p:blipFill>
          <a:blip r:embed="rId10"/>
          <a:stretch>
            <a:fillRect/>
          </a:stretch>
        </p:blipFill>
        <p:spPr>
          <a:xfrm>
            <a:off x="5286375" y="2438400"/>
            <a:ext cx="285750" cy="304800"/>
          </a:xfrm>
          <a:prstGeom prst="rect">
            <a:avLst/>
          </a:prstGeom>
        </p:spPr>
      </p:pic>
      <p:pic>
        <p:nvPicPr>
          <p:cNvPr id="10" name="Image 8" descr="preencoded.png"/>
          <p:cNvPicPr>
            <a:picLocks noChangeAspect="1"/>
          </p:cNvPicPr>
          <p:nvPr/>
        </p:nvPicPr>
        <p:blipFill>
          <a:blip r:embed="rId7"/>
          <a:stretch>
            <a:fillRect/>
          </a:stretch>
        </p:blipFill>
        <p:spPr>
          <a:xfrm>
            <a:off x="6286500" y="2752725"/>
            <a:ext cx="1524000" cy="38100"/>
          </a:xfrm>
          <a:prstGeom prst="rect">
            <a:avLst/>
          </a:prstGeom>
        </p:spPr>
      </p:pic>
      <p:pic>
        <p:nvPicPr>
          <p:cNvPr id="11" name="Image 9" descr="preencoded.png"/>
          <p:cNvPicPr>
            <a:picLocks noChangeAspect="1"/>
          </p:cNvPicPr>
          <p:nvPr/>
        </p:nvPicPr>
        <p:blipFill>
          <a:blip r:embed="rId11"/>
          <a:stretch>
            <a:fillRect/>
          </a:stretch>
        </p:blipFill>
        <p:spPr>
          <a:xfrm>
            <a:off x="6667500" y="2152650"/>
            <a:ext cx="1062930" cy="276225"/>
          </a:xfrm>
          <a:prstGeom prst="rect">
            <a:avLst/>
          </a:prstGeom>
        </p:spPr>
      </p:pic>
      <p:pic>
        <p:nvPicPr>
          <p:cNvPr id="12" name="Image 10" descr="preencoded.png"/>
          <p:cNvPicPr>
            <a:picLocks noChangeAspect="1"/>
          </p:cNvPicPr>
          <p:nvPr/>
        </p:nvPicPr>
        <p:blipFill>
          <a:blip r:embed="rId12"/>
          <a:stretch>
            <a:fillRect/>
          </a:stretch>
        </p:blipFill>
        <p:spPr>
          <a:xfrm>
            <a:off x="7810500" y="2343150"/>
            <a:ext cx="1714500" cy="952500"/>
          </a:xfrm>
          <a:prstGeom prst="rect">
            <a:avLst/>
          </a:prstGeom>
        </p:spPr>
      </p:pic>
      <p:pic>
        <p:nvPicPr>
          <p:cNvPr id="13" name="Image 11" descr="preencoded.png"/>
          <p:cNvPicPr>
            <a:picLocks noChangeAspect="1"/>
          </p:cNvPicPr>
          <p:nvPr/>
        </p:nvPicPr>
        <p:blipFill>
          <a:blip r:embed="rId13"/>
          <a:stretch>
            <a:fillRect/>
          </a:stretch>
        </p:blipFill>
        <p:spPr>
          <a:xfrm>
            <a:off x="8539163" y="2514600"/>
            <a:ext cx="257175" cy="304800"/>
          </a:xfrm>
          <a:prstGeom prst="rect">
            <a:avLst/>
          </a:prstGeom>
        </p:spPr>
      </p:pic>
      <p:pic>
        <p:nvPicPr>
          <p:cNvPr id="14" name="Image 12" descr="preencoded.png"/>
          <p:cNvPicPr>
            <a:picLocks noChangeAspect="1"/>
          </p:cNvPicPr>
          <p:nvPr/>
        </p:nvPicPr>
        <p:blipFill>
          <a:blip r:embed="rId7"/>
          <a:stretch>
            <a:fillRect/>
          </a:stretch>
        </p:blipFill>
        <p:spPr>
          <a:xfrm>
            <a:off x="9525000" y="2752725"/>
            <a:ext cx="1524000" cy="38100"/>
          </a:xfrm>
          <a:prstGeom prst="rect">
            <a:avLst/>
          </a:prstGeom>
        </p:spPr>
      </p:pic>
      <p:pic>
        <p:nvPicPr>
          <p:cNvPr id="15" name="Image 13" descr="preencoded.png"/>
          <p:cNvPicPr>
            <a:picLocks noChangeAspect="1"/>
          </p:cNvPicPr>
          <p:nvPr/>
        </p:nvPicPr>
        <p:blipFill>
          <a:blip r:embed="rId14"/>
          <a:stretch>
            <a:fillRect/>
          </a:stretch>
        </p:blipFill>
        <p:spPr>
          <a:xfrm>
            <a:off x="9906000" y="2152650"/>
            <a:ext cx="767953" cy="276225"/>
          </a:xfrm>
          <a:prstGeom prst="rect">
            <a:avLst/>
          </a:prstGeom>
        </p:spPr>
      </p:pic>
      <p:pic>
        <p:nvPicPr>
          <p:cNvPr id="16" name="Image 14" descr="preencoded.png"/>
          <p:cNvPicPr>
            <a:picLocks noChangeAspect="1"/>
          </p:cNvPicPr>
          <p:nvPr/>
        </p:nvPicPr>
        <p:blipFill>
          <a:blip r:embed="rId15"/>
          <a:stretch>
            <a:fillRect/>
          </a:stretch>
        </p:blipFill>
        <p:spPr>
          <a:xfrm>
            <a:off x="11049000" y="1676400"/>
            <a:ext cx="1143000" cy="952500"/>
          </a:xfrm>
          <a:prstGeom prst="rect">
            <a:avLst/>
          </a:prstGeom>
        </p:spPr>
      </p:pic>
      <p:pic>
        <p:nvPicPr>
          <p:cNvPr id="17" name="Image 15" descr="preencoded.png"/>
          <p:cNvPicPr>
            <a:picLocks noChangeAspect="1"/>
          </p:cNvPicPr>
          <p:nvPr/>
        </p:nvPicPr>
        <p:blipFill>
          <a:blip r:embed="rId16"/>
          <a:stretch>
            <a:fillRect/>
          </a:stretch>
        </p:blipFill>
        <p:spPr>
          <a:xfrm>
            <a:off x="11820525" y="1847850"/>
            <a:ext cx="171450" cy="304800"/>
          </a:xfrm>
          <a:prstGeom prst="rect">
            <a:avLst/>
          </a:prstGeom>
        </p:spPr>
      </p:pic>
      <p:pic>
        <p:nvPicPr>
          <p:cNvPr id="18" name="Image 16" descr="preencoded.png"/>
          <p:cNvPicPr>
            <a:picLocks noChangeAspect="1"/>
          </p:cNvPicPr>
          <p:nvPr/>
        </p:nvPicPr>
        <p:blipFill>
          <a:blip r:embed="rId15"/>
          <a:stretch>
            <a:fillRect/>
          </a:stretch>
        </p:blipFill>
        <p:spPr>
          <a:xfrm>
            <a:off x="11049000" y="3295650"/>
            <a:ext cx="1143000" cy="952500"/>
          </a:xfrm>
          <a:prstGeom prst="rect">
            <a:avLst/>
          </a:prstGeom>
        </p:spPr>
      </p:pic>
      <p:pic>
        <p:nvPicPr>
          <p:cNvPr id="19" name="Image 17" descr="preencoded.png"/>
          <p:cNvPicPr>
            <a:picLocks noChangeAspect="1"/>
          </p:cNvPicPr>
          <p:nvPr/>
        </p:nvPicPr>
        <p:blipFill>
          <a:blip r:embed="rId17"/>
          <a:stretch>
            <a:fillRect/>
          </a:stretch>
        </p:blipFill>
        <p:spPr>
          <a:xfrm>
            <a:off x="11791950" y="3467100"/>
            <a:ext cx="228600" cy="304800"/>
          </a:xfrm>
          <a:prstGeom prst="rect">
            <a:avLst/>
          </a:prstGeom>
        </p:spPr>
      </p:pic>
      <p:pic>
        <p:nvPicPr>
          <p:cNvPr id="20" name="Image 18" descr="preencoded.png"/>
          <p:cNvPicPr>
            <a:picLocks noChangeAspect="1"/>
          </p:cNvPicPr>
          <p:nvPr/>
        </p:nvPicPr>
        <p:blipFill>
          <a:blip r:embed="rId18"/>
          <a:stretch>
            <a:fillRect/>
          </a:stretch>
        </p:blipFill>
        <p:spPr>
          <a:xfrm>
            <a:off x="381000" y="4591050"/>
            <a:ext cx="5600700" cy="457200"/>
          </a:xfrm>
          <a:prstGeom prst="rect">
            <a:avLst/>
          </a:prstGeom>
        </p:spPr>
      </p:pic>
      <p:pic>
        <p:nvPicPr>
          <p:cNvPr id="21" name="Image 19" descr="preencoded.png"/>
          <p:cNvPicPr>
            <a:picLocks noChangeAspect="1"/>
          </p:cNvPicPr>
          <p:nvPr/>
        </p:nvPicPr>
        <p:blipFill>
          <a:blip r:embed="rId18"/>
          <a:stretch>
            <a:fillRect/>
          </a:stretch>
        </p:blipFill>
        <p:spPr>
          <a:xfrm>
            <a:off x="6210300" y="4591050"/>
            <a:ext cx="5600700" cy="457200"/>
          </a:xfrm>
          <a:prstGeom prst="rect">
            <a:avLst/>
          </a:prstGeom>
        </p:spPr>
      </p:pic>
      <p:pic>
        <p:nvPicPr>
          <p:cNvPr id="22" name="Image 20" descr="preencoded.png"/>
          <p:cNvPicPr>
            <a:picLocks noChangeAspect="1"/>
          </p:cNvPicPr>
          <p:nvPr/>
        </p:nvPicPr>
        <p:blipFill>
          <a:blip r:embed="rId18"/>
          <a:stretch>
            <a:fillRect/>
          </a:stretch>
        </p:blipFill>
        <p:spPr>
          <a:xfrm>
            <a:off x="381000" y="5391150"/>
            <a:ext cx="5600700" cy="457200"/>
          </a:xfrm>
          <a:prstGeom prst="rect">
            <a:avLst/>
          </a:prstGeom>
        </p:spPr>
      </p:pic>
      <p:pic>
        <p:nvPicPr>
          <p:cNvPr id="23" name="Image 21" descr="preencoded.png"/>
          <p:cNvPicPr>
            <a:picLocks noChangeAspect="1"/>
          </p:cNvPicPr>
          <p:nvPr/>
        </p:nvPicPr>
        <p:blipFill>
          <a:blip r:embed="rId18"/>
          <a:stretch>
            <a:fillRect/>
          </a:stretch>
        </p:blipFill>
        <p:spPr>
          <a:xfrm>
            <a:off x="6210300" y="5391150"/>
            <a:ext cx="5600700" cy="457200"/>
          </a:xfrm>
          <a:prstGeom prst="rect">
            <a:avLst/>
          </a:prstGeom>
        </p:spPr>
      </p:pic>
      <p:sp>
        <p:nvSpPr>
          <p:cNvPr id="24"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Architecture Dagster</a:t>
            </a:r>
            <a:endParaRPr lang="en-US" sz="2700" dirty="0"/>
          </a:p>
        </p:txBody>
      </p:sp>
      <p:sp>
        <p:nvSpPr>
          <p:cNvPr id="25" name="Text 1"/>
          <p:cNvSpPr/>
          <p:nvPr/>
        </p:nvSpPr>
        <p:spPr>
          <a:xfrm>
            <a:off x="1645444" y="2895600"/>
            <a:ext cx="1308556"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Code Python</a:t>
            </a:r>
            <a:endParaRPr lang="en-US" sz="1200" dirty="0"/>
          </a:p>
        </p:txBody>
      </p:sp>
      <p:sp>
        <p:nvSpPr>
          <p:cNvPr id="26" name="Text 2"/>
          <p:cNvSpPr/>
          <p:nvPr/>
        </p:nvSpPr>
        <p:spPr>
          <a:xfrm>
            <a:off x="3505200" y="2152650"/>
            <a:ext cx="1041202" cy="276225"/>
          </a:xfrm>
          <a:prstGeom prst="rect">
            <a:avLst/>
          </a:prstGeom>
          <a:noFill/>
          <a:ln/>
        </p:spPr>
        <p:txBody>
          <a:bodyPr vert="horz" wrap="square" lIns="0" tIns="0" rIns="0" bIns="0" rtlCol="0" anchor="t"/>
          <a:lstStyle/>
          <a:p>
            <a:pPr marL="0" indent="0">
              <a:lnSpc>
                <a:spcPts val="1575"/>
              </a:lnSpc>
              <a:buNone/>
            </a:pPr>
            <a:r>
              <a:rPr lang="en-US" sz="1050" dirty="0">
                <a:solidFill>
                  <a:srgbClr val="333333"/>
                </a:solidFill>
                <a:latin typeface="ui-sans-serif" pitchFamily="34" charset="0"/>
                <a:ea typeface="ui-sans-serif" pitchFamily="34" charset="-122"/>
                <a:cs typeface="ui-sans-serif" pitchFamily="34" charset="-120"/>
              </a:rPr>
              <a:t>Définitions</a:t>
            </a:r>
            <a:endParaRPr lang="en-US" sz="1050" dirty="0"/>
          </a:p>
        </p:txBody>
      </p:sp>
      <p:sp>
        <p:nvSpPr>
          <p:cNvPr id="27" name="Text 3"/>
          <p:cNvSpPr/>
          <p:nvPr/>
        </p:nvSpPr>
        <p:spPr>
          <a:xfrm>
            <a:off x="5088880" y="2819400"/>
            <a:ext cx="816709"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Dagster</a:t>
            </a:r>
            <a:endParaRPr lang="en-US" sz="1200" dirty="0"/>
          </a:p>
        </p:txBody>
      </p:sp>
      <p:sp>
        <p:nvSpPr>
          <p:cNvPr id="28" name="Text 4"/>
          <p:cNvSpPr/>
          <p:nvPr/>
        </p:nvSpPr>
        <p:spPr>
          <a:xfrm>
            <a:off x="5061496" y="3048000"/>
            <a:ext cx="882610" cy="152400"/>
          </a:xfrm>
          <a:prstGeom prst="rect">
            <a:avLst/>
          </a:prstGeom>
          <a:noFill/>
          <a:ln/>
        </p:spPr>
        <p:txBody>
          <a:bodyPr vert="horz" wrap="square" lIns="0" tIns="0" rIns="0" bIns="0" rtlCol="0" anchor="t"/>
          <a:lstStyle/>
          <a:p>
            <a:pPr marL="0" indent="0">
              <a:lnSpc>
                <a:spcPts val="1200"/>
              </a:lnSpc>
              <a:buNone/>
            </a:pPr>
            <a:r>
              <a:rPr lang="en-US" sz="900" dirty="0">
                <a:solidFill>
                  <a:srgbClr val="FFFFFF"/>
                </a:solidFill>
                <a:latin typeface="ui-sans-serif" pitchFamily="34" charset="0"/>
                <a:ea typeface="ui-sans-serif" pitchFamily="34" charset="-122"/>
                <a:cs typeface="ui-sans-serif" pitchFamily="34" charset="-120"/>
              </a:rPr>
              <a:t>(Assets/Jobs)</a:t>
            </a:r>
            <a:endParaRPr lang="en-US" sz="900" dirty="0"/>
          </a:p>
        </p:txBody>
      </p:sp>
      <p:sp>
        <p:nvSpPr>
          <p:cNvPr id="29" name="Text 5"/>
          <p:cNvSpPr/>
          <p:nvPr/>
        </p:nvSpPr>
        <p:spPr>
          <a:xfrm>
            <a:off x="6743700" y="2152650"/>
            <a:ext cx="1275517" cy="276225"/>
          </a:xfrm>
          <a:prstGeom prst="rect">
            <a:avLst/>
          </a:prstGeom>
          <a:noFill/>
          <a:ln/>
        </p:spPr>
        <p:txBody>
          <a:bodyPr vert="horz" wrap="square" lIns="0" tIns="0" rIns="0" bIns="0" rtlCol="0" anchor="t"/>
          <a:lstStyle/>
          <a:p>
            <a:pPr marL="0" indent="0">
              <a:lnSpc>
                <a:spcPts val="1575"/>
              </a:lnSpc>
              <a:buNone/>
            </a:pPr>
            <a:r>
              <a:rPr lang="en-US" sz="1050" dirty="0">
                <a:solidFill>
                  <a:srgbClr val="333333"/>
                </a:solidFill>
                <a:latin typeface="ui-sans-serif" pitchFamily="34" charset="0"/>
                <a:ea typeface="ui-sans-serif" pitchFamily="34" charset="-122"/>
                <a:cs typeface="ui-sans-serif" pitchFamily="34" charset="-120"/>
              </a:rPr>
              <a:t>Orchestration</a:t>
            </a:r>
            <a:endParaRPr lang="en-US" sz="1050" dirty="0"/>
          </a:p>
        </p:txBody>
      </p:sp>
      <p:sp>
        <p:nvSpPr>
          <p:cNvPr id="30" name="Text 6"/>
          <p:cNvSpPr/>
          <p:nvPr/>
        </p:nvSpPr>
        <p:spPr>
          <a:xfrm>
            <a:off x="8249543" y="2895600"/>
            <a:ext cx="1003697"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Dagit (UI)</a:t>
            </a:r>
            <a:endParaRPr lang="en-US" sz="1200" dirty="0"/>
          </a:p>
        </p:txBody>
      </p:sp>
      <p:sp>
        <p:nvSpPr>
          <p:cNvPr id="31" name="Text 7"/>
          <p:cNvSpPr/>
          <p:nvPr/>
        </p:nvSpPr>
        <p:spPr>
          <a:xfrm>
            <a:off x="9982200" y="2152650"/>
            <a:ext cx="921544" cy="276225"/>
          </a:xfrm>
          <a:prstGeom prst="rect">
            <a:avLst/>
          </a:prstGeom>
          <a:noFill/>
          <a:ln/>
        </p:spPr>
        <p:txBody>
          <a:bodyPr vert="horz" wrap="square" lIns="0" tIns="0" rIns="0" bIns="0" rtlCol="0" anchor="t"/>
          <a:lstStyle/>
          <a:p>
            <a:pPr marL="0" indent="0">
              <a:lnSpc>
                <a:spcPts val="1575"/>
              </a:lnSpc>
              <a:buNone/>
            </a:pPr>
            <a:r>
              <a:rPr lang="en-US" sz="1050" dirty="0">
                <a:solidFill>
                  <a:srgbClr val="333333"/>
                </a:solidFill>
                <a:latin typeface="ui-sans-serif" pitchFamily="34" charset="0"/>
                <a:ea typeface="ui-sans-serif" pitchFamily="34" charset="-122"/>
                <a:cs typeface="ui-sans-serif" pitchFamily="34" charset="-120"/>
              </a:rPr>
              <a:t>Résultats</a:t>
            </a:r>
            <a:endParaRPr lang="en-US" sz="1050" dirty="0"/>
          </a:p>
        </p:txBody>
      </p:sp>
      <p:sp>
        <p:nvSpPr>
          <p:cNvPr id="32" name="Text 8"/>
          <p:cNvSpPr/>
          <p:nvPr/>
        </p:nvSpPr>
        <p:spPr>
          <a:xfrm>
            <a:off x="11705332" y="2228850"/>
            <a:ext cx="482025"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Logs</a:t>
            </a:r>
            <a:endParaRPr lang="en-US" sz="1200" dirty="0"/>
          </a:p>
        </p:txBody>
      </p:sp>
      <p:sp>
        <p:nvSpPr>
          <p:cNvPr id="33" name="Text 9"/>
          <p:cNvSpPr/>
          <p:nvPr/>
        </p:nvSpPr>
        <p:spPr>
          <a:xfrm>
            <a:off x="11734949" y="3848100"/>
            <a:ext cx="410944"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CSV</a:t>
            </a:r>
            <a:endParaRPr lang="en-US" sz="1200" dirty="0"/>
          </a:p>
        </p:txBody>
      </p:sp>
      <p:sp>
        <p:nvSpPr>
          <p:cNvPr id="34" name="Text 10"/>
          <p:cNvSpPr/>
          <p:nvPr/>
        </p:nvSpPr>
        <p:spPr>
          <a:xfrm>
            <a:off x="533400" y="4591050"/>
            <a:ext cx="54483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Code Python</a:t>
            </a:r>
            <a:endParaRPr lang="en-US" sz="1350" dirty="0"/>
          </a:p>
        </p:txBody>
      </p:sp>
      <p:sp>
        <p:nvSpPr>
          <p:cNvPr id="35" name="Text 11"/>
          <p:cNvSpPr/>
          <p:nvPr/>
        </p:nvSpPr>
        <p:spPr>
          <a:xfrm>
            <a:off x="533400" y="4857750"/>
            <a:ext cx="653796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Où les ingénieurs de données définissent leurs Assets et Jobs.</a:t>
            </a:r>
            <a:endParaRPr lang="en-US" sz="1050" dirty="0"/>
          </a:p>
        </p:txBody>
      </p:sp>
      <p:sp>
        <p:nvSpPr>
          <p:cNvPr id="36" name="Text 12"/>
          <p:cNvSpPr/>
          <p:nvPr/>
        </p:nvSpPr>
        <p:spPr>
          <a:xfrm>
            <a:off x="6362700" y="4591050"/>
            <a:ext cx="54483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Dagster Engine</a:t>
            </a:r>
            <a:endParaRPr lang="en-US" sz="1350" dirty="0"/>
          </a:p>
        </p:txBody>
      </p:sp>
      <p:sp>
        <p:nvSpPr>
          <p:cNvPr id="37" name="Text 13"/>
          <p:cNvSpPr/>
          <p:nvPr/>
        </p:nvSpPr>
        <p:spPr>
          <a:xfrm>
            <a:off x="6362700" y="4857750"/>
            <a:ext cx="653796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Gère les dépendances et l'exécution des pipelines.</a:t>
            </a:r>
            <a:endParaRPr lang="en-US" sz="1050" dirty="0"/>
          </a:p>
        </p:txBody>
      </p:sp>
      <p:sp>
        <p:nvSpPr>
          <p:cNvPr id="38" name="Text 14"/>
          <p:cNvSpPr/>
          <p:nvPr/>
        </p:nvSpPr>
        <p:spPr>
          <a:xfrm>
            <a:off x="533400" y="5391150"/>
            <a:ext cx="54483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Dagit UI</a:t>
            </a:r>
            <a:endParaRPr lang="en-US" sz="1350" dirty="0"/>
          </a:p>
        </p:txBody>
      </p:sp>
      <p:sp>
        <p:nvSpPr>
          <p:cNvPr id="39" name="Text 15"/>
          <p:cNvSpPr/>
          <p:nvPr/>
        </p:nvSpPr>
        <p:spPr>
          <a:xfrm>
            <a:off x="533400" y="5657850"/>
            <a:ext cx="653796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Interface pour visualiser et gérer les pipelines.</a:t>
            </a:r>
            <a:endParaRPr lang="en-US" sz="1050" dirty="0"/>
          </a:p>
        </p:txBody>
      </p:sp>
      <p:sp>
        <p:nvSpPr>
          <p:cNvPr id="40" name="Text 16"/>
          <p:cNvSpPr/>
          <p:nvPr/>
        </p:nvSpPr>
        <p:spPr>
          <a:xfrm>
            <a:off x="6362700" y="5391150"/>
            <a:ext cx="54483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Artefacts</a:t>
            </a:r>
            <a:endParaRPr lang="en-US" sz="1350" dirty="0"/>
          </a:p>
        </p:txBody>
      </p:sp>
      <p:sp>
        <p:nvSpPr>
          <p:cNvPr id="41" name="Text 17"/>
          <p:cNvSpPr/>
          <p:nvPr/>
        </p:nvSpPr>
        <p:spPr>
          <a:xfrm>
            <a:off x="6362700" y="5657850"/>
            <a:ext cx="653796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Résultats : Logs et fichiers de données.</a:t>
            </a:r>
            <a:endParaRPr lang="en-US" sz="1050" dirty="0"/>
          </a:p>
        </p:txBody>
      </p:sp>
      <p:sp>
        <p:nvSpPr>
          <p:cNvPr id="42" name="Text 18"/>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43" name="Text 19"/>
          <p:cNvSpPr/>
          <p:nvPr/>
        </p:nvSpPr>
        <p:spPr>
          <a:xfrm>
            <a:off x="11360944" y="6286500"/>
            <a:ext cx="54006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2095500" y="175260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2667000" y="1943100"/>
            <a:ext cx="762000" cy="495300"/>
          </a:xfrm>
          <a:prstGeom prst="rect">
            <a:avLst/>
          </a:prstGeom>
        </p:spPr>
      </p:pic>
      <p:pic>
        <p:nvPicPr>
          <p:cNvPr id="6" name="Image 4" descr="preencoded.png"/>
          <p:cNvPicPr>
            <a:picLocks noChangeAspect="1"/>
          </p:cNvPicPr>
          <p:nvPr/>
        </p:nvPicPr>
        <p:blipFill>
          <a:blip r:embed="rId7"/>
          <a:stretch>
            <a:fillRect/>
          </a:stretch>
        </p:blipFill>
        <p:spPr>
          <a:xfrm>
            <a:off x="2876550" y="2000250"/>
            <a:ext cx="342900" cy="381000"/>
          </a:xfrm>
          <a:prstGeom prst="rect">
            <a:avLst/>
          </a:prstGeom>
        </p:spPr>
      </p:pic>
      <p:pic>
        <p:nvPicPr>
          <p:cNvPr id="7" name="Image 5" descr="preencoded.png"/>
          <p:cNvPicPr>
            <a:picLocks noChangeAspect="1"/>
          </p:cNvPicPr>
          <p:nvPr/>
        </p:nvPicPr>
        <p:blipFill>
          <a:blip r:embed="rId8"/>
          <a:stretch>
            <a:fillRect/>
          </a:stretch>
        </p:blipFill>
        <p:spPr>
          <a:xfrm>
            <a:off x="4095750" y="2686050"/>
            <a:ext cx="952500" cy="38100"/>
          </a:xfrm>
          <a:prstGeom prst="rect">
            <a:avLst/>
          </a:prstGeom>
        </p:spPr>
      </p:pic>
      <p:pic>
        <p:nvPicPr>
          <p:cNvPr id="8" name="Image 6" descr="preencoded.png"/>
          <p:cNvPicPr>
            <a:picLocks noChangeAspect="1"/>
          </p:cNvPicPr>
          <p:nvPr/>
        </p:nvPicPr>
        <p:blipFill>
          <a:blip r:embed="rId9"/>
          <a:stretch>
            <a:fillRect/>
          </a:stretch>
        </p:blipFill>
        <p:spPr>
          <a:xfrm>
            <a:off x="5143500" y="1752600"/>
            <a:ext cx="1905000" cy="1905000"/>
          </a:xfrm>
          <a:prstGeom prst="rect">
            <a:avLst/>
          </a:prstGeom>
        </p:spPr>
      </p:pic>
      <p:pic>
        <p:nvPicPr>
          <p:cNvPr id="9" name="Image 7" descr="preencoded.png"/>
          <p:cNvPicPr>
            <a:picLocks noChangeAspect="1"/>
          </p:cNvPicPr>
          <p:nvPr/>
        </p:nvPicPr>
        <p:blipFill>
          <a:blip r:embed="rId10"/>
          <a:stretch>
            <a:fillRect/>
          </a:stretch>
        </p:blipFill>
        <p:spPr>
          <a:xfrm>
            <a:off x="5715000" y="1943100"/>
            <a:ext cx="762000" cy="495300"/>
          </a:xfrm>
          <a:prstGeom prst="rect">
            <a:avLst/>
          </a:prstGeom>
        </p:spPr>
      </p:pic>
      <p:pic>
        <p:nvPicPr>
          <p:cNvPr id="10" name="Image 8" descr="preencoded.png"/>
          <p:cNvPicPr>
            <a:picLocks noChangeAspect="1"/>
          </p:cNvPicPr>
          <p:nvPr/>
        </p:nvPicPr>
        <p:blipFill>
          <a:blip r:embed="rId11"/>
          <a:stretch>
            <a:fillRect/>
          </a:stretch>
        </p:blipFill>
        <p:spPr>
          <a:xfrm>
            <a:off x="5881688" y="2000250"/>
            <a:ext cx="428625" cy="381000"/>
          </a:xfrm>
          <a:prstGeom prst="rect">
            <a:avLst/>
          </a:prstGeom>
        </p:spPr>
      </p:pic>
      <p:pic>
        <p:nvPicPr>
          <p:cNvPr id="11" name="Image 9" descr="preencoded.png"/>
          <p:cNvPicPr>
            <a:picLocks noChangeAspect="1"/>
          </p:cNvPicPr>
          <p:nvPr/>
        </p:nvPicPr>
        <p:blipFill>
          <a:blip r:embed="rId8"/>
          <a:stretch>
            <a:fillRect/>
          </a:stretch>
        </p:blipFill>
        <p:spPr>
          <a:xfrm>
            <a:off x="7143750" y="2686050"/>
            <a:ext cx="952500" cy="38100"/>
          </a:xfrm>
          <a:prstGeom prst="rect">
            <a:avLst/>
          </a:prstGeom>
        </p:spPr>
      </p:pic>
      <p:pic>
        <p:nvPicPr>
          <p:cNvPr id="12" name="Image 10" descr="preencoded.png"/>
          <p:cNvPicPr>
            <a:picLocks noChangeAspect="1"/>
          </p:cNvPicPr>
          <p:nvPr/>
        </p:nvPicPr>
        <p:blipFill>
          <a:blip r:embed="rId12"/>
          <a:stretch>
            <a:fillRect/>
          </a:stretch>
        </p:blipFill>
        <p:spPr>
          <a:xfrm>
            <a:off x="8191500" y="1752600"/>
            <a:ext cx="1905000" cy="1905000"/>
          </a:xfrm>
          <a:prstGeom prst="rect">
            <a:avLst/>
          </a:prstGeom>
        </p:spPr>
      </p:pic>
      <p:pic>
        <p:nvPicPr>
          <p:cNvPr id="13" name="Image 11" descr="preencoded.png"/>
          <p:cNvPicPr>
            <a:picLocks noChangeAspect="1"/>
          </p:cNvPicPr>
          <p:nvPr/>
        </p:nvPicPr>
        <p:blipFill>
          <a:blip r:embed="rId13"/>
          <a:stretch>
            <a:fillRect/>
          </a:stretch>
        </p:blipFill>
        <p:spPr>
          <a:xfrm>
            <a:off x="8763000" y="1943100"/>
            <a:ext cx="762000" cy="495300"/>
          </a:xfrm>
          <a:prstGeom prst="rect">
            <a:avLst/>
          </a:prstGeom>
        </p:spPr>
      </p:pic>
      <p:pic>
        <p:nvPicPr>
          <p:cNvPr id="14" name="Image 12" descr="preencoded.png"/>
          <p:cNvPicPr>
            <a:picLocks noChangeAspect="1"/>
          </p:cNvPicPr>
          <p:nvPr/>
        </p:nvPicPr>
        <p:blipFill>
          <a:blip r:embed="rId14"/>
          <a:stretch>
            <a:fillRect/>
          </a:stretch>
        </p:blipFill>
        <p:spPr>
          <a:xfrm>
            <a:off x="8972550" y="2000250"/>
            <a:ext cx="342900" cy="381000"/>
          </a:xfrm>
          <a:prstGeom prst="rect">
            <a:avLst/>
          </a:prstGeom>
        </p:spPr>
      </p:pic>
      <p:pic>
        <p:nvPicPr>
          <p:cNvPr id="15" name="Image 13" descr="preencoded.png"/>
          <p:cNvPicPr>
            <a:picLocks noChangeAspect="1"/>
          </p:cNvPicPr>
          <p:nvPr/>
        </p:nvPicPr>
        <p:blipFill>
          <a:blip r:embed="rId15"/>
          <a:stretch>
            <a:fillRect/>
          </a:stretch>
        </p:blipFill>
        <p:spPr>
          <a:xfrm>
            <a:off x="762000" y="4114800"/>
            <a:ext cx="3352800" cy="1371600"/>
          </a:xfrm>
          <a:prstGeom prst="rect">
            <a:avLst/>
          </a:prstGeom>
        </p:spPr>
      </p:pic>
      <p:pic>
        <p:nvPicPr>
          <p:cNvPr id="16" name="Image 14" descr="preencoded.png"/>
          <p:cNvPicPr>
            <a:picLocks noChangeAspect="1"/>
          </p:cNvPicPr>
          <p:nvPr/>
        </p:nvPicPr>
        <p:blipFill>
          <a:blip r:embed="rId16"/>
          <a:stretch>
            <a:fillRect/>
          </a:stretch>
        </p:blipFill>
        <p:spPr>
          <a:xfrm>
            <a:off x="4419600" y="4114800"/>
            <a:ext cx="3352800" cy="1371600"/>
          </a:xfrm>
          <a:prstGeom prst="rect">
            <a:avLst/>
          </a:prstGeom>
        </p:spPr>
      </p:pic>
      <p:pic>
        <p:nvPicPr>
          <p:cNvPr id="17" name="Image 15" descr="preencoded.png"/>
          <p:cNvPicPr>
            <a:picLocks noChangeAspect="1"/>
          </p:cNvPicPr>
          <p:nvPr/>
        </p:nvPicPr>
        <p:blipFill>
          <a:blip r:embed="rId17"/>
          <a:stretch>
            <a:fillRect/>
          </a:stretch>
        </p:blipFill>
        <p:spPr>
          <a:xfrm>
            <a:off x="8077200" y="4114800"/>
            <a:ext cx="3352800" cy="1371600"/>
          </a:xfrm>
          <a:prstGeom prst="rect">
            <a:avLst/>
          </a:prstGeom>
        </p:spPr>
      </p:pic>
      <p:sp>
        <p:nvSpPr>
          <p:cNvPr id="18"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Exemple de pipeline</a:t>
            </a:r>
            <a:endParaRPr lang="en-US" sz="2700" dirty="0"/>
          </a:p>
        </p:txBody>
      </p:sp>
      <p:sp>
        <p:nvSpPr>
          <p:cNvPr id="19" name="Text 1"/>
          <p:cNvSpPr/>
          <p:nvPr/>
        </p:nvSpPr>
        <p:spPr>
          <a:xfrm>
            <a:off x="2493124" y="2628900"/>
            <a:ext cx="1109603"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Extract</a:t>
            </a:r>
            <a:endParaRPr lang="en-US" sz="1800" dirty="0"/>
          </a:p>
        </p:txBody>
      </p:sp>
      <p:sp>
        <p:nvSpPr>
          <p:cNvPr id="20" name="Text 2"/>
          <p:cNvSpPr/>
          <p:nvPr/>
        </p:nvSpPr>
        <p:spPr>
          <a:xfrm>
            <a:off x="2286000" y="3009900"/>
            <a:ext cx="15240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Extraction des données</a:t>
            </a:r>
            <a:endParaRPr lang="en-US" sz="1200" dirty="0"/>
          </a:p>
        </p:txBody>
      </p:sp>
      <p:sp>
        <p:nvSpPr>
          <p:cNvPr id="21" name="Text 3"/>
          <p:cNvSpPr/>
          <p:nvPr/>
        </p:nvSpPr>
        <p:spPr>
          <a:xfrm>
            <a:off x="5313417" y="2628900"/>
            <a:ext cx="1565017"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Transform</a:t>
            </a:r>
            <a:endParaRPr lang="en-US" sz="1800" dirty="0"/>
          </a:p>
        </p:txBody>
      </p:sp>
      <p:sp>
        <p:nvSpPr>
          <p:cNvPr id="22" name="Text 4"/>
          <p:cNvSpPr/>
          <p:nvPr/>
        </p:nvSpPr>
        <p:spPr>
          <a:xfrm>
            <a:off x="5334000" y="3009900"/>
            <a:ext cx="15240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Transformation des données</a:t>
            </a:r>
            <a:endParaRPr lang="en-US" sz="1200" dirty="0"/>
          </a:p>
        </p:txBody>
      </p:sp>
      <p:sp>
        <p:nvSpPr>
          <p:cNvPr id="23" name="Text 5"/>
          <p:cNvSpPr/>
          <p:nvPr/>
        </p:nvSpPr>
        <p:spPr>
          <a:xfrm>
            <a:off x="8771632" y="2628900"/>
            <a:ext cx="744736"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ui-sans-serif" pitchFamily="34" charset="0"/>
                <a:ea typeface="ui-sans-serif" pitchFamily="34" charset="-122"/>
                <a:cs typeface="ui-sans-serif" pitchFamily="34" charset="-120"/>
              </a:rPr>
              <a:t>Load</a:t>
            </a:r>
            <a:endParaRPr lang="en-US" sz="1800" dirty="0"/>
          </a:p>
        </p:txBody>
      </p:sp>
      <p:sp>
        <p:nvSpPr>
          <p:cNvPr id="24" name="Text 6"/>
          <p:cNvSpPr/>
          <p:nvPr/>
        </p:nvSpPr>
        <p:spPr>
          <a:xfrm>
            <a:off x="8382000" y="3009900"/>
            <a:ext cx="15240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Chargement des données</a:t>
            </a:r>
            <a:endParaRPr lang="en-US" sz="1200" dirty="0"/>
          </a:p>
        </p:txBody>
      </p:sp>
      <p:sp>
        <p:nvSpPr>
          <p:cNvPr id="25" name="Text 7"/>
          <p:cNvSpPr/>
          <p:nvPr/>
        </p:nvSpPr>
        <p:spPr>
          <a:xfrm>
            <a:off x="914400" y="4267200"/>
            <a:ext cx="3657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D4ED8"/>
                </a:solidFill>
                <a:latin typeface="ui-sans-serif" pitchFamily="34" charset="0"/>
                <a:ea typeface="ui-sans-serif" pitchFamily="34" charset="-122"/>
                <a:cs typeface="ui-sans-serif" pitchFamily="34" charset="-120"/>
              </a:rPr>
              <a:t>Extract (Extraction)</a:t>
            </a:r>
            <a:endParaRPr lang="en-US" sz="1200" dirty="0"/>
          </a:p>
        </p:txBody>
      </p:sp>
      <p:sp>
        <p:nvSpPr>
          <p:cNvPr id="26" name="Text 8"/>
          <p:cNvSpPr/>
          <p:nvPr/>
        </p:nvSpPr>
        <p:spPr>
          <a:xfrm>
            <a:off x="914400" y="4572000"/>
            <a:ext cx="304800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Collecte les données brutes à partir de diverses sources : bases de données, fichiers CSV, APIs, systèmes de streaming, etc.</a:t>
            </a:r>
            <a:endParaRPr lang="en-US" sz="1050" dirty="0"/>
          </a:p>
        </p:txBody>
      </p:sp>
      <p:sp>
        <p:nvSpPr>
          <p:cNvPr id="27" name="Text 9"/>
          <p:cNvSpPr/>
          <p:nvPr/>
        </p:nvSpPr>
        <p:spPr>
          <a:xfrm>
            <a:off x="4572000" y="4267200"/>
            <a:ext cx="3657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5803D"/>
                </a:solidFill>
                <a:latin typeface="ui-sans-serif" pitchFamily="34" charset="0"/>
                <a:ea typeface="ui-sans-serif" pitchFamily="34" charset="-122"/>
                <a:cs typeface="ui-sans-serif" pitchFamily="34" charset="-120"/>
              </a:rPr>
              <a:t>Transform (Transformation)</a:t>
            </a:r>
            <a:endParaRPr lang="en-US" sz="1200" dirty="0"/>
          </a:p>
        </p:txBody>
      </p:sp>
      <p:sp>
        <p:nvSpPr>
          <p:cNvPr id="28" name="Text 10"/>
          <p:cNvSpPr/>
          <p:nvPr/>
        </p:nvSpPr>
        <p:spPr>
          <a:xfrm>
            <a:off x="4572000" y="4572000"/>
            <a:ext cx="304800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Nettoyage, enrichissement, agrégation et restructurazione des données pour répondre aux exigences du modèle cible.</a:t>
            </a:r>
            <a:endParaRPr lang="en-US" sz="1050" dirty="0"/>
          </a:p>
        </p:txBody>
      </p:sp>
      <p:sp>
        <p:nvSpPr>
          <p:cNvPr id="29" name="Text 11"/>
          <p:cNvSpPr/>
          <p:nvPr/>
        </p:nvSpPr>
        <p:spPr>
          <a:xfrm>
            <a:off x="8229600" y="4267200"/>
            <a:ext cx="3657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7E22CE"/>
                </a:solidFill>
                <a:latin typeface="ui-sans-serif" pitchFamily="34" charset="0"/>
                <a:ea typeface="ui-sans-serif" pitchFamily="34" charset="-122"/>
                <a:cs typeface="ui-sans-serif" pitchFamily="34" charset="-120"/>
              </a:rPr>
              <a:t>Load (Chargement)</a:t>
            </a:r>
            <a:endParaRPr lang="en-US" sz="1200" dirty="0"/>
          </a:p>
        </p:txBody>
      </p:sp>
      <p:sp>
        <p:nvSpPr>
          <p:cNvPr id="30" name="Text 12"/>
          <p:cNvSpPr/>
          <p:nvPr/>
        </p:nvSpPr>
        <p:spPr>
          <a:xfrm>
            <a:off x="8229600" y="4572000"/>
            <a:ext cx="30480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Chargement des données transformées dans un système de destination : entrepôt de données, lac de données ou base de données analytique.</a:t>
            </a:r>
            <a:endParaRPr lang="en-US" sz="1050" dirty="0"/>
          </a:p>
        </p:txBody>
      </p:sp>
      <p:sp>
        <p:nvSpPr>
          <p:cNvPr id="31" name="Text 13"/>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32" name="Text 14"/>
          <p:cNvSpPr/>
          <p:nvPr/>
        </p:nvSpPr>
        <p:spPr>
          <a:xfrm>
            <a:off x="11360944" y="6286500"/>
            <a:ext cx="54006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381000" y="1028700"/>
            <a:ext cx="285750" cy="304800"/>
          </a:xfrm>
          <a:prstGeom prst="rect">
            <a:avLst/>
          </a:prstGeom>
        </p:spPr>
      </p:pic>
      <p:pic>
        <p:nvPicPr>
          <p:cNvPr id="5" name="Image 3" descr="preencoded.png"/>
          <p:cNvPicPr>
            <a:picLocks noChangeAspect="1"/>
          </p:cNvPicPr>
          <p:nvPr/>
        </p:nvPicPr>
        <p:blipFill>
          <a:blip r:embed="rId6"/>
          <a:stretch>
            <a:fillRect/>
          </a:stretch>
        </p:blipFill>
        <p:spPr>
          <a:xfrm>
            <a:off x="381000" y="1447800"/>
            <a:ext cx="11430000" cy="4686300"/>
          </a:xfrm>
          <a:prstGeom prst="rect">
            <a:avLst/>
          </a:prstGeom>
        </p:spPr>
      </p:pic>
      <p:pic>
        <p:nvPicPr>
          <p:cNvPr id="6" name="Image 4" descr="preencoded.png"/>
          <p:cNvPicPr>
            <a:picLocks noChangeAspect="1"/>
          </p:cNvPicPr>
          <p:nvPr/>
        </p:nvPicPr>
        <p:blipFill>
          <a:blip r:embed="rId7"/>
          <a:stretch>
            <a:fillRect/>
          </a:stretch>
        </p:blipFill>
        <p:spPr>
          <a:xfrm>
            <a:off x="523875" y="1733550"/>
            <a:ext cx="11144250" cy="1485900"/>
          </a:xfrm>
          <a:prstGeom prst="rect">
            <a:avLst/>
          </a:prstGeom>
        </p:spPr>
      </p:pic>
      <p:pic>
        <p:nvPicPr>
          <p:cNvPr id="7" name="Image 5" descr="preencoded.png"/>
          <p:cNvPicPr>
            <a:picLocks noChangeAspect="1"/>
          </p:cNvPicPr>
          <p:nvPr/>
        </p:nvPicPr>
        <p:blipFill>
          <a:blip r:embed="rId8"/>
          <a:stretch>
            <a:fillRect/>
          </a:stretch>
        </p:blipFill>
        <p:spPr>
          <a:xfrm>
            <a:off x="11896725" y="3638550"/>
            <a:ext cx="200025" cy="228600"/>
          </a:xfrm>
          <a:prstGeom prst="rect">
            <a:avLst/>
          </a:prstGeom>
        </p:spPr>
      </p:pic>
      <p:pic>
        <p:nvPicPr>
          <p:cNvPr id="8" name="Image 6" descr="preencoded.png"/>
          <p:cNvPicPr>
            <a:picLocks noChangeAspect="1"/>
          </p:cNvPicPr>
          <p:nvPr/>
        </p:nvPicPr>
        <p:blipFill>
          <a:blip r:embed="rId9"/>
          <a:stretch>
            <a:fillRect/>
          </a:stretch>
        </p:blipFill>
        <p:spPr>
          <a:xfrm>
            <a:off x="523875" y="3228975"/>
            <a:ext cx="11144250" cy="3143250"/>
          </a:xfrm>
          <a:prstGeom prst="rect">
            <a:avLst/>
          </a:prstGeom>
        </p:spPr>
      </p:pic>
      <p:pic>
        <p:nvPicPr>
          <p:cNvPr id="9" name="Image 7" descr="preencoded.png"/>
          <p:cNvPicPr>
            <a:picLocks noChangeAspect="1"/>
          </p:cNvPicPr>
          <p:nvPr/>
        </p:nvPicPr>
        <p:blipFill>
          <a:blip r:embed="rId10"/>
          <a:stretch>
            <a:fillRect/>
          </a:stretch>
        </p:blipFill>
        <p:spPr>
          <a:xfrm>
            <a:off x="5283250" y="674818"/>
            <a:ext cx="6642050" cy="647700"/>
          </a:xfrm>
          <a:prstGeom prst="rect">
            <a:avLst/>
          </a:prstGeom>
        </p:spPr>
      </p:pic>
      <p:pic>
        <p:nvPicPr>
          <p:cNvPr id="10" name="Image 8" descr="preencoded.png"/>
          <p:cNvPicPr>
            <a:picLocks noChangeAspect="1"/>
          </p:cNvPicPr>
          <p:nvPr/>
        </p:nvPicPr>
        <p:blipFill>
          <a:blip r:embed="rId11"/>
          <a:stretch>
            <a:fillRect/>
          </a:stretch>
        </p:blipFill>
        <p:spPr>
          <a:xfrm>
            <a:off x="5454700" y="714375"/>
            <a:ext cx="133350" cy="133350"/>
          </a:xfrm>
          <a:prstGeom prst="rect">
            <a:avLst/>
          </a:prstGeom>
        </p:spPr>
      </p:pic>
      <p:pic>
        <p:nvPicPr>
          <p:cNvPr id="11" name="Image 9" descr="preencoded.png"/>
          <p:cNvPicPr>
            <a:picLocks noChangeAspect="1"/>
          </p:cNvPicPr>
          <p:nvPr/>
        </p:nvPicPr>
        <p:blipFill>
          <a:blip r:embed="rId12"/>
          <a:stretch>
            <a:fillRect/>
          </a:stretch>
        </p:blipFill>
        <p:spPr>
          <a:xfrm>
            <a:off x="5283250" y="1800225"/>
            <a:ext cx="171450" cy="133350"/>
          </a:xfrm>
          <a:prstGeom prst="rect">
            <a:avLst/>
          </a:prstGeom>
        </p:spPr>
      </p:pic>
      <p:sp>
        <p:nvSpPr>
          <p:cNvPr id="12"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Code du projet</a:t>
            </a:r>
            <a:endParaRPr lang="en-US" sz="2700" dirty="0"/>
          </a:p>
        </p:txBody>
      </p:sp>
      <p:sp>
        <p:nvSpPr>
          <p:cNvPr id="13" name="Text 1"/>
          <p:cNvSpPr/>
          <p:nvPr/>
        </p:nvSpPr>
        <p:spPr>
          <a:xfrm>
            <a:off x="781050" y="1066800"/>
            <a:ext cx="6474916"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Extrait de code Python illustrant l'approche </a:t>
            </a:r>
            <a:r>
              <a:rPr lang="en-US" sz="1200" b="1" dirty="0">
                <a:solidFill>
                  <a:srgbClr val="374151"/>
                </a:solidFill>
                <a:latin typeface="ui-sans-serif" pitchFamily="34" charset="0"/>
                <a:ea typeface="ui-sans-serif" pitchFamily="34" charset="-122"/>
                <a:cs typeface="ui-sans-serif" pitchFamily="34" charset="-120"/>
              </a:rPr>
              <a:t>asset-centric</a:t>
            </a:r>
            <a:r>
              <a:rPr lang="en-US" sz="1200" dirty="0">
                <a:solidFill>
                  <a:srgbClr val="374151"/>
                </a:solidFill>
                <a:latin typeface="ui-sans-serif" pitchFamily="34" charset="0"/>
                <a:ea typeface="ui-sans-serif" pitchFamily="34" charset="-122"/>
                <a:cs typeface="ui-sans-serif" pitchFamily="34" charset="-120"/>
              </a:rPr>
              <a:t> de Dagster.</a:t>
            </a:r>
            <a:endParaRPr lang="en-US" sz="1200" dirty="0"/>
          </a:p>
        </p:txBody>
      </p:sp>
      <p:sp>
        <p:nvSpPr>
          <p:cNvPr id="14" name="Text 2"/>
          <p:cNvSpPr/>
          <p:nvPr/>
        </p:nvSpPr>
        <p:spPr>
          <a:xfrm>
            <a:off x="619125" y="1628775"/>
            <a:ext cx="658475" cy="171450"/>
          </a:xfrm>
          <a:prstGeom prst="rect">
            <a:avLst/>
          </a:prstGeom>
          <a:noFill/>
          <a:ln/>
        </p:spPr>
        <p:txBody>
          <a:bodyPr vert="horz" wrap="square" lIns="0" tIns="0" rIns="0" bIns="0" rtlCol="0" anchor="t"/>
          <a:lstStyle/>
          <a:p>
            <a:pPr marL="0" indent="0">
              <a:lnSpc>
                <a:spcPts val="1800"/>
              </a:lnSpc>
              <a:buNone/>
            </a:pPr>
            <a:r>
              <a:rPr lang="en-US" sz="1200" dirty="0">
                <a:solidFill>
                  <a:srgbClr val="C586C0"/>
                </a:solidFill>
                <a:latin typeface="Courier New" pitchFamily="34" charset="0"/>
                <a:ea typeface="Courier New" pitchFamily="34" charset="-122"/>
                <a:cs typeface="Courier New" pitchFamily="34" charset="-120"/>
              </a:rPr>
              <a:t>@</a:t>
            </a:r>
            <a:endParaRPr lang="en-US" sz="1200" dirty="0"/>
          </a:p>
        </p:txBody>
      </p:sp>
      <p:sp>
        <p:nvSpPr>
          <p:cNvPr id="15" name="Text 3"/>
          <p:cNvSpPr/>
          <p:nvPr/>
        </p:nvSpPr>
        <p:spPr>
          <a:xfrm>
            <a:off x="587425" y="1685925"/>
            <a:ext cx="12710160" cy="2476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16" name="Text 4"/>
          <p:cNvSpPr/>
          <p:nvPr/>
        </p:nvSpPr>
        <p:spPr>
          <a:xfrm>
            <a:off x="619125" y="2124075"/>
            <a:ext cx="7901702" cy="1714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17" name="Text 5"/>
          <p:cNvSpPr/>
          <p:nvPr/>
        </p:nvSpPr>
        <p:spPr>
          <a:xfrm>
            <a:off x="619125" y="2333625"/>
            <a:ext cx="10591800" cy="2476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18" name="Text 6"/>
          <p:cNvSpPr/>
          <p:nvPr/>
        </p:nvSpPr>
        <p:spPr>
          <a:xfrm>
            <a:off x="619125" y="2581275"/>
            <a:ext cx="12710160" cy="2476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19" name="Text 7"/>
          <p:cNvSpPr/>
          <p:nvPr/>
        </p:nvSpPr>
        <p:spPr>
          <a:xfrm>
            <a:off x="619125" y="2828925"/>
            <a:ext cx="10591800" cy="2476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20" name="Text 8"/>
          <p:cNvSpPr/>
          <p:nvPr/>
        </p:nvSpPr>
        <p:spPr>
          <a:xfrm>
            <a:off x="619125" y="3228975"/>
            <a:ext cx="10591800" cy="2476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21" name="Text 9"/>
          <p:cNvSpPr/>
          <p:nvPr/>
        </p:nvSpPr>
        <p:spPr>
          <a:xfrm>
            <a:off x="619125" y="3476625"/>
            <a:ext cx="10591800" cy="2476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22" name="Text 10"/>
          <p:cNvSpPr/>
          <p:nvPr/>
        </p:nvSpPr>
        <p:spPr>
          <a:xfrm>
            <a:off x="619125" y="3762375"/>
            <a:ext cx="6804243" cy="1714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23" name="Text 11"/>
          <p:cNvSpPr/>
          <p:nvPr/>
        </p:nvSpPr>
        <p:spPr>
          <a:xfrm>
            <a:off x="619125" y="3971925"/>
            <a:ext cx="10591800" cy="2476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24" name="Text 12"/>
          <p:cNvSpPr/>
          <p:nvPr/>
        </p:nvSpPr>
        <p:spPr>
          <a:xfrm>
            <a:off x="619125" y="4219575"/>
            <a:ext cx="12710160" cy="247650"/>
          </a:xfrm>
          <a:prstGeom prst="rect">
            <a:avLst/>
          </a:prstGeom>
          <a:noFill/>
          <a:ln/>
        </p:spPr>
        <p:txBody>
          <a:bodyPr vert="horz" wrap="square" lIns="0" tIns="0" rIns="0" bIns="0" rtlCol="0" anchor="t"/>
          <a:lstStyle/>
          <a:p>
            <a:pPr marL="0" indent="0">
              <a:lnSpc>
                <a:spcPts val="1800"/>
              </a:lnSpc>
              <a:buNone/>
            </a:pPr>
            <a:endParaRPr lang="en-US" sz="1200" dirty="0"/>
          </a:p>
        </p:txBody>
      </p:sp>
      <p:sp>
        <p:nvSpPr>
          <p:cNvPr id="25" name="Text 13"/>
          <p:cNvSpPr/>
          <p:nvPr/>
        </p:nvSpPr>
        <p:spPr>
          <a:xfrm>
            <a:off x="5915025" y="751018"/>
            <a:ext cx="769614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Courier New" pitchFamily="34" charset="0"/>
                <a:ea typeface="Courier New" pitchFamily="34" charset="-122"/>
                <a:cs typeface="Courier New" pitchFamily="34" charset="-120"/>
              </a:rPr>
              <a:t> Chaque fonction décorée par </a:t>
            </a:r>
            <a:r>
              <a:rPr lang="en-US" sz="1050" b="1" dirty="0">
                <a:solidFill>
                  <a:srgbClr val="374151"/>
                </a:solidFill>
                <a:latin typeface="Courier New" pitchFamily="34" charset="0"/>
                <a:ea typeface="Courier New" pitchFamily="34" charset="-122"/>
                <a:cs typeface="Courier New" pitchFamily="34" charset="-120"/>
              </a:rPr>
              <a:t>@asset</a:t>
            </a:r>
            <a:r>
              <a:rPr lang="en-US" sz="1050" dirty="0">
                <a:solidFill>
                  <a:srgbClr val="374151"/>
                </a:solidFill>
                <a:latin typeface="Courier New" pitchFamily="34" charset="0"/>
                <a:ea typeface="Courier New" pitchFamily="34" charset="-122"/>
                <a:cs typeface="Courier New" pitchFamily="34" charset="-120"/>
              </a:rPr>
              <a:t> représente un objet de données persistant.</a:t>
            </a:r>
            <a:endParaRPr lang="en-US" sz="1050" dirty="0"/>
          </a:p>
        </p:txBody>
      </p:sp>
      <p:sp>
        <p:nvSpPr>
          <p:cNvPr id="26" name="Text 14"/>
          <p:cNvSpPr/>
          <p:nvPr/>
        </p:nvSpPr>
        <p:spPr>
          <a:xfrm>
            <a:off x="7079004" y="997890"/>
            <a:ext cx="769614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Courier New" pitchFamily="34" charset="0"/>
                <a:ea typeface="Courier New" pitchFamily="34" charset="-122"/>
                <a:cs typeface="Courier New" pitchFamily="34" charset="-120"/>
              </a:rPr>
              <a:t> Les dépendances sont explicitement définies via </a:t>
            </a:r>
            <a:r>
              <a:rPr lang="en-US" sz="1050" b="1" dirty="0">
                <a:solidFill>
                  <a:srgbClr val="374151"/>
                </a:solidFill>
                <a:latin typeface="Courier New" pitchFamily="34" charset="0"/>
                <a:ea typeface="Courier New" pitchFamily="34" charset="-122"/>
                <a:cs typeface="Courier New" pitchFamily="34" charset="-120"/>
              </a:rPr>
              <a:t>deps</a:t>
            </a:r>
            <a:r>
              <a:rPr lang="en-US" sz="1050" dirty="0">
                <a:solidFill>
                  <a:srgbClr val="374151"/>
                </a:solidFill>
                <a:latin typeface="Courier New" pitchFamily="34" charset="0"/>
                <a:ea typeface="Courier New" pitchFamily="34" charset="-122"/>
                <a:cs typeface="Courier New" pitchFamily="34" charset="-120"/>
              </a:rPr>
              <a:t>.</a:t>
            </a:r>
            <a:endParaRPr lang="en-US" sz="1050" dirty="0"/>
          </a:p>
        </p:txBody>
      </p:sp>
      <p:sp>
        <p:nvSpPr>
          <p:cNvPr id="27" name="Text 15"/>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28" name="Text 16"/>
          <p:cNvSpPr/>
          <p:nvPr/>
        </p:nvSpPr>
        <p:spPr>
          <a:xfrm>
            <a:off x="11360944" y="6286500"/>
            <a:ext cx="54006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8</a:t>
            </a:r>
            <a:endParaRPr lang="en-US" sz="1050" dirty="0"/>
          </a:p>
        </p:txBody>
      </p:sp>
      <p:sp>
        <p:nvSpPr>
          <p:cNvPr id="30" name="ZoneTexte 29">
            <a:extLst>
              <a:ext uri="{FF2B5EF4-FFF2-40B4-BE49-F238E27FC236}">
                <a16:creationId xmlns:a16="http://schemas.microsoft.com/office/drawing/2014/main" id="{D45FD506-4B51-8956-5511-027D09ECBE6A}"/>
              </a:ext>
            </a:extLst>
          </p:cNvPr>
          <p:cNvSpPr txBox="1"/>
          <p:nvPr/>
        </p:nvSpPr>
        <p:spPr>
          <a:xfrm>
            <a:off x="996077" y="1776993"/>
            <a:ext cx="6474916" cy="4595232"/>
          </a:xfrm>
          <a:prstGeom prst="rect">
            <a:avLst/>
          </a:prstGeom>
          <a:noFill/>
        </p:spPr>
        <p:txBody>
          <a:bodyPr wrap="square">
            <a:spAutoFit/>
          </a:bodyPr>
          <a:lstStyle/>
          <a:p>
            <a:pPr>
              <a:lnSpc>
                <a:spcPts val="1425"/>
              </a:lnSpc>
              <a:buNone/>
            </a:pPr>
            <a:r>
              <a:rPr lang="fr-MA" b="1" dirty="0">
                <a:effectLst/>
                <a:latin typeface="Consolas" panose="020B0609020204030204" pitchFamily="49" charset="0"/>
              </a:rPr>
              <a:t>import pandas as </a:t>
            </a:r>
            <a:r>
              <a:rPr lang="fr-MA" b="1" dirty="0" err="1">
                <a:effectLst/>
                <a:latin typeface="Consolas" panose="020B0609020204030204" pitchFamily="49" charset="0"/>
              </a:rPr>
              <a:t>pd</a:t>
            </a:r>
            <a:endParaRPr lang="fr-MA" b="1" dirty="0">
              <a:effectLst/>
              <a:latin typeface="Consolas" panose="020B0609020204030204" pitchFamily="49" charset="0"/>
            </a:endParaRPr>
          </a:p>
          <a:p>
            <a:pPr>
              <a:lnSpc>
                <a:spcPts val="1425"/>
              </a:lnSpc>
              <a:buNone/>
            </a:pPr>
            <a:r>
              <a:rPr lang="fr-MA" b="1" dirty="0" err="1">
                <a:effectLst/>
                <a:latin typeface="Consolas" panose="020B0609020204030204" pitchFamily="49" charset="0"/>
              </a:rPr>
              <a:t>from</a:t>
            </a:r>
            <a:r>
              <a:rPr lang="fr-MA" b="1" dirty="0">
                <a:effectLst/>
                <a:latin typeface="Consolas" panose="020B0609020204030204" pitchFamily="49" charset="0"/>
              </a:rPr>
              <a:t> </a:t>
            </a:r>
            <a:r>
              <a:rPr lang="fr-MA" b="1" dirty="0" err="1">
                <a:effectLst/>
                <a:latin typeface="Consolas" panose="020B0609020204030204" pitchFamily="49" charset="0"/>
              </a:rPr>
              <a:t>dagster</a:t>
            </a:r>
            <a:r>
              <a:rPr lang="fr-MA" b="1" dirty="0">
                <a:effectLst/>
                <a:latin typeface="Consolas" panose="020B0609020204030204" pitchFamily="49" charset="0"/>
              </a:rPr>
              <a:t> import asset</a:t>
            </a:r>
          </a:p>
          <a:p>
            <a:pPr>
              <a:lnSpc>
                <a:spcPts val="1425"/>
              </a:lnSpc>
              <a:buNone/>
            </a:pPr>
            <a:br>
              <a:rPr lang="fr-MA" b="1" dirty="0">
                <a:effectLst/>
                <a:latin typeface="Consolas" panose="020B0609020204030204" pitchFamily="49" charset="0"/>
              </a:rPr>
            </a:br>
            <a:endParaRPr lang="fr-MA" b="1" dirty="0">
              <a:effectLst/>
              <a:latin typeface="Consolas" panose="020B0609020204030204" pitchFamily="49" charset="0"/>
            </a:endParaRPr>
          </a:p>
          <a:p>
            <a:pPr>
              <a:lnSpc>
                <a:spcPts val="1425"/>
              </a:lnSpc>
              <a:buNone/>
            </a:pPr>
            <a:r>
              <a:rPr lang="fr-MA" b="1" dirty="0">
                <a:effectLst/>
                <a:latin typeface="Consolas" panose="020B0609020204030204" pitchFamily="49" charset="0"/>
              </a:rPr>
              <a:t>@asset</a:t>
            </a:r>
          </a:p>
          <a:p>
            <a:pPr>
              <a:lnSpc>
                <a:spcPts val="1425"/>
              </a:lnSpc>
              <a:buNone/>
            </a:pPr>
            <a:r>
              <a:rPr lang="fr-MA" b="1" dirty="0" err="1">
                <a:effectLst/>
                <a:latin typeface="Consolas" panose="020B0609020204030204" pitchFamily="49" charset="0"/>
              </a:rPr>
              <a:t>def</a:t>
            </a:r>
            <a:r>
              <a:rPr lang="fr-MA" b="1" dirty="0">
                <a:effectLst/>
                <a:latin typeface="Consolas" panose="020B0609020204030204" pitchFamily="49" charset="0"/>
              </a:rPr>
              <a:t> </a:t>
            </a:r>
            <a:r>
              <a:rPr lang="fr-MA" b="1" dirty="0" err="1">
                <a:effectLst/>
                <a:latin typeface="Consolas" panose="020B0609020204030204" pitchFamily="49" charset="0"/>
              </a:rPr>
              <a:t>load_data</a:t>
            </a:r>
            <a:r>
              <a:rPr lang="fr-MA" b="1" dirty="0">
                <a:effectLst/>
                <a:latin typeface="Consolas" panose="020B0609020204030204" pitchFamily="49" charset="0"/>
              </a:rPr>
              <a:t>():</a:t>
            </a:r>
          </a:p>
          <a:p>
            <a:pPr>
              <a:lnSpc>
                <a:spcPts val="1425"/>
              </a:lnSpc>
              <a:buNone/>
            </a:pPr>
            <a:r>
              <a:rPr lang="fr-MA" b="1" dirty="0">
                <a:effectLst/>
                <a:latin typeface="Consolas" panose="020B0609020204030204" pitchFamily="49" charset="0"/>
              </a:rPr>
              <a:t>    </a:t>
            </a:r>
            <a:r>
              <a:rPr lang="fr-MA" b="1" dirty="0" err="1">
                <a:effectLst/>
                <a:latin typeface="Consolas" panose="020B0609020204030204" pitchFamily="49" charset="0"/>
              </a:rPr>
              <a:t>df</a:t>
            </a:r>
            <a:r>
              <a:rPr lang="fr-MA" b="1" dirty="0">
                <a:effectLst/>
                <a:latin typeface="Consolas" panose="020B0609020204030204" pitchFamily="49" charset="0"/>
              </a:rPr>
              <a:t> = </a:t>
            </a:r>
            <a:r>
              <a:rPr lang="fr-MA" b="1" dirty="0" err="1">
                <a:effectLst/>
                <a:latin typeface="Consolas" panose="020B0609020204030204" pitchFamily="49" charset="0"/>
              </a:rPr>
              <a:t>pd.read_csv</a:t>
            </a:r>
            <a:r>
              <a:rPr lang="fr-MA" b="1" dirty="0">
                <a:effectLst/>
                <a:latin typeface="Consolas" panose="020B0609020204030204" pitchFamily="49" charset="0"/>
              </a:rPr>
              <a:t>("input.csv")</a:t>
            </a:r>
          </a:p>
          <a:p>
            <a:pPr>
              <a:lnSpc>
                <a:spcPts val="1425"/>
              </a:lnSpc>
              <a:buNone/>
            </a:pPr>
            <a:r>
              <a:rPr lang="fr-MA" b="1" dirty="0">
                <a:effectLst/>
                <a:latin typeface="Consolas" panose="020B0609020204030204" pitchFamily="49" charset="0"/>
              </a:rPr>
              <a:t>    </a:t>
            </a:r>
            <a:r>
              <a:rPr lang="fr-MA" b="1" dirty="0" err="1">
                <a:effectLst/>
                <a:latin typeface="Consolas" panose="020B0609020204030204" pitchFamily="49" charset="0"/>
              </a:rPr>
              <a:t>print</a:t>
            </a:r>
            <a:r>
              <a:rPr lang="fr-MA" b="1" dirty="0">
                <a:effectLst/>
                <a:latin typeface="Consolas" panose="020B0609020204030204" pitchFamily="49" charset="0"/>
              </a:rPr>
              <a:t>("Data </a:t>
            </a:r>
            <a:r>
              <a:rPr lang="fr-MA" b="1" dirty="0" err="1">
                <a:effectLst/>
                <a:latin typeface="Consolas" panose="020B0609020204030204" pitchFamily="49" charset="0"/>
              </a:rPr>
              <a:t>loaded</a:t>
            </a:r>
            <a:r>
              <a:rPr lang="fr-MA" b="1" dirty="0">
                <a:effectLst/>
                <a:latin typeface="Consolas" panose="020B0609020204030204" pitchFamily="49" charset="0"/>
              </a:rPr>
              <a:t>:\n", </a:t>
            </a:r>
            <a:r>
              <a:rPr lang="fr-MA" b="1" dirty="0" err="1">
                <a:effectLst/>
                <a:latin typeface="Consolas" panose="020B0609020204030204" pitchFamily="49" charset="0"/>
              </a:rPr>
              <a:t>df.head</a:t>
            </a:r>
            <a:r>
              <a:rPr lang="fr-MA" b="1" dirty="0">
                <a:effectLst/>
                <a:latin typeface="Consolas" panose="020B0609020204030204" pitchFamily="49" charset="0"/>
              </a:rPr>
              <a:t>())</a:t>
            </a:r>
          </a:p>
          <a:p>
            <a:pPr>
              <a:lnSpc>
                <a:spcPts val="1425"/>
              </a:lnSpc>
              <a:buNone/>
            </a:pPr>
            <a:r>
              <a:rPr lang="fr-MA" b="1" dirty="0">
                <a:effectLst/>
                <a:latin typeface="Consolas" panose="020B0609020204030204" pitchFamily="49" charset="0"/>
              </a:rPr>
              <a:t>    return </a:t>
            </a:r>
            <a:r>
              <a:rPr lang="fr-MA" b="1" dirty="0" err="1">
                <a:effectLst/>
                <a:latin typeface="Consolas" panose="020B0609020204030204" pitchFamily="49" charset="0"/>
              </a:rPr>
              <a:t>df</a:t>
            </a:r>
            <a:endParaRPr lang="fr-MA" b="1" dirty="0">
              <a:effectLst/>
              <a:latin typeface="Consolas" panose="020B0609020204030204" pitchFamily="49" charset="0"/>
            </a:endParaRPr>
          </a:p>
          <a:p>
            <a:pPr>
              <a:lnSpc>
                <a:spcPts val="1425"/>
              </a:lnSpc>
              <a:buNone/>
            </a:pPr>
            <a:br>
              <a:rPr lang="fr-MA" b="1" dirty="0">
                <a:effectLst/>
                <a:latin typeface="Consolas" panose="020B0609020204030204" pitchFamily="49" charset="0"/>
              </a:rPr>
            </a:br>
            <a:endParaRPr lang="fr-MA" b="1" dirty="0">
              <a:effectLst/>
              <a:latin typeface="Consolas" panose="020B0609020204030204" pitchFamily="49" charset="0"/>
            </a:endParaRPr>
          </a:p>
          <a:p>
            <a:pPr>
              <a:lnSpc>
                <a:spcPts val="1425"/>
              </a:lnSpc>
              <a:buNone/>
            </a:pPr>
            <a:r>
              <a:rPr lang="fr-MA" b="1" dirty="0">
                <a:effectLst/>
                <a:latin typeface="Consolas" panose="020B0609020204030204" pitchFamily="49" charset="0"/>
              </a:rPr>
              <a:t>@asset</a:t>
            </a:r>
          </a:p>
          <a:p>
            <a:pPr>
              <a:lnSpc>
                <a:spcPts val="1425"/>
              </a:lnSpc>
              <a:buNone/>
            </a:pPr>
            <a:r>
              <a:rPr lang="fr-MA" b="1" dirty="0" err="1">
                <a:effectLst/>
                <a:latin typeface="Consolas" panose="020B0609020204030204" pitchFamily="49" charset="0"/>
              </a:rPr>
              <a:t>def</a:t>
            </a:r>
            <a:r>
              <a:rPr lang="fr-MA" b="1" dirty="0">
                <a:effectLst/>
                <a:latin typeface="Consolas" panose="020B0609020204030204" pitchFamily="49" charset="0"/>
              </a:rPr>
              <a:t> </a:t>
            </a:r>
            <a:r>
              <a:rPr lang="fr-MA" b="1" dirty="0" err="1">
                <a:effectLst/>
                <a:latin typeface="Consolas" panose="020B0609020204030204" pitchFamily="49" charset="0"/>
              </a:rPr>
              <a:t>transform_data</a:t>
            </a:r>
            <a:r>
              <a:rPr lang="fr-MA" b="1" dirty="0">
                <a:effectLst/>
                <a:latin typeface="Consolas" panose="020B0609020204030204" pitchFamily="49" charset="0"/>
              </a:rPr>
              <a:t>(</a:t>
            </a:r>
            <a:r>
              <a:rPr lang="fr-MA" b="1" dirty="0" err="1">
                <a:effectLst/>
                <a:latin typeface="Consolas" panose="020B0609020204030204" pitchFamily="49" charset="0"/>
              </a:rPr>
              <a:t>load_data</a:t>
            </a:r>
            <a:r>
              <a:rPr lang="fr-MA" b="1" dirty="0">
                <a:effectLst/>
                <a:latin typeface="Consolas" panose="020B0609020204030204" pitchFamily="49" charset="0"/>
              </a:rPr>
              <a:t>):</a:t>
            </a:r>
          </a:p>
          <a:p>
            <a:pPr>
              <a:lnSpc>
                <a:spcPts val="1425"/>
              </a:lnSpc>
              <a:buNone/>
            </a:pPr>
            <a:r>
              <a:rPr lang="fr-MA" b="1" dirty="0">
                <a:effectLst/>
                <a:latin typeface="Consolas" panose="020B0609020204030204" pitchFamily="49" charset="0"/>
              </a:rPr>
              <a:t>    </a:t>
            </a:r>
            <a:r>
              <a:rPr lang="fr-MA" b="1" dirty="0" err="1">
                <a:effectLst/>
                <a:latin typeface="Consolas" panose="020B0609020204030204" pitchFamily="49" charset="0"/>
              </a:rPr>
              <a:t>df</a:t>
            </a:r>
            <a:r>
              <a:rPr lang="fr-MA" b="1" dirty="0">
                <a:effectLst/>
                <a:latin typeface="Consolas" panose="020B0609020204030204" pitchFamily="49" charset="0"/>
              </a:rPr>
              <a:t> = </a:t>
            </a:r>
            <a:r>
              <a:rPr lang="fr-MA" b="1" dirty="0" err="1">
                <a:effectLst/>
                <a:latin typeface="Consolas" panose="020B0609020204030204" pitchFamily="49" charset="0"/>
              </a:rPr>
              <a:t>load_data.copy</a:t>
            </a:r>
            <a:r>
              <a:rPr lang="fr-MA" b="1" dirty="0">
                <a:effectLst/>
                <a:latin typeface="Consolas" panose="020B0609020204030204" pitchFamily="49" charset="0"/>
              </a:rPr>
              <a:t>()</a:t>
            </a:r>
          </a:p>
          <a:p>
            <a:pPr>
              <a:lnSpc>
                <a:spcPts val="1425"/>
              </a:lnSpc>
              <a:buNone/>
            </a:pPr>
            <a:r>
              <a:rPr lang="fr-MA" b="1" dirty="0">
                <a:effectLst/>
                <a:latin typeface="Consolas" panose="020B0609020204030204" pitchFamily="49" charset="0"/>
              </a:rPr>
              <a:t>    </a:t>
            </a:r>
            <a:r>
              <a:rPr lang="fr-MA" b="1" dirty="0" err="1">
                <a:effectLst/>
                <a:latin typeface="Consolas" panose="020B0609020204030204" pitchFamily="49" charset="0"/>
              </a:rPr>
              <a:t>df</a:t>
            </a:r>
            <a:r>
              <a:rPr lang="fr-MA" b="1" dirty="0">
                <a:effectLst/>
                <a:latin typeface="Consolas" panose="020B0609020204030204" pitchFamily="49" charset="0"/>
              </a:rPr>
              <a:t>["total"] = </a:t>
            </a:r>
            <a:r>
              <a:rPr lang="fr-MA" b="1" dirty="0" err="1">
                <a:effectLst/>
                <a:latin typeface="Consolas" panose="020B0609020204030204" pitchFamily="49" charset="0"/>
              </a:rPr>
              <a:t>df</a:t>
            </a:r>
            <a:r>
              <a:rPr lang="fr-MA" b="1" dirty="0">
                <a:effectLst/>
                <a:latin typeface="Consolas" panose="020B0609020204030204" pitchFamily="49" charset="0"/>
              </a:rPr>
              <a:t>["</a:t>
            </a:r>
            <a:r>
              <a:rPr lang="fr-MA" b="1" dirty="0" err="1">
                <a:effectLst/>
                <a:latin typeface="Consolas" panose="020B0609020204030204" pitchFamily="49" charset="0"/>
              </a:rPr>
              <a:t>quantity</a:t>
            </a:r>
            <a:r>
              <a:rPr lang="fr-MA" b="1" dirty="0">
                <a:effectLst/>
                <a:latin typeface="Consolas" panose="020B0609020204030204" pitchFamily="49" charset="0"/>
              </a:rPr>
              <a:t>"] * </a:t>
            </a:r>
            <a:r>
              <a:rPr lang="fr-MA" b="1" dirty="0" err="1">
                <a:effectLst/>
                <a:latin typeface="Consolas" panose="020B0609020204030204" pitchFamily="49" charset="0"/>
              </a:rPr>
              <a:t>df</a:t>
            </a:r>
            <a:r>
              <a:rPr lang="fr-MA" b="1" dirty="0">
                <a:effectLst/>
                <a:latin typeface="Consolas" panose="020B0609020204030204" pitchFamily="49" charset="0"/>
              </a:rPr>
              <a:t>["</a:t>
            </a:r>
            <a:r>
              <a:rPr lang="fr-MA" b="1" dirty="0" err="1">
                <a:effectLst/>
                <a:latin typeface="Consolas" panose="020B0609020204030204" pitchFamily="49" charset="0"/>
              </a:rPr>
              <a:t>price</a:t>
            </a:r>
            <a:r>
              <a:rPr lang="fr-MA" b="1" dirty="0">
                <a:effectLst/>
                <a:latin typeface="Consolas" panose="020B0609020204030204" pitchFamily="49" charset="0"/>
              </a:rPr>
              <a:t>"]</a:t>
            </a:r>
          </a:p>
          <a:p>
            <a:pPr>
              <a:lnSpc>
                <a:spcPts val="1425"/>
              </a:lnSpc>
              <a:buNone/>
            </a:pPr>
            <a:r>
              <a:rPr lang="fr-MA" b="1" dirty="0">
                <a:effectLst/>
                <a:latin typeface="Consolas" panose="020B0609020204030204" pitchFamily="49" charset="0"/>
              </a:rPr>
              <a:t>    </a:t>
            </a:r>
            <a:r>
              <a:rPr lang="fr-MA" b="1" dirty="0" err="1">
                <a:effectLst/>
                <a:latin typeface="Consolas" panose="020B0609020204030204" pitchFamily="49" charset="0"/>
              </a:rPr>
              <a:t>print</a:t>
            </a:r>
            <a:r>
              <a:rPr lang="fr-MA" b="1" dirty="0">
                <a:effectLst/>
                <a:latin typeface="Consolas" panose="020B0609020204030204" pitchFamily="49" charset="0"/>
              </a:rPr>
              <a:t>("Data </a:t>
            </a:r>
            <a:r>
              <a:rPr lang="fr-MA" b="1" dirty="0" err="1">
                <a:effectLst/>
                <a:latin typeface="Consolas" panose="020B0609020204030204" pitchFamily="49" charset="0"/>
              </a:rPr>
              <a:t>transformed</a:t>
            </a:r>
            <a:r>
              <a:rPr lang="fr-MA" b="1" dirty="0">
                <a:effectLst/>
                <a:latin typeface="Consolas" panose="020B0609020204030204" pitchFamily="49" charset="0"/>
              </a:rPr>
              <a:t>:\n", </a:t>
            </a:r>
            <a:r>
              <a:rPr lang="fr-MA" b="1" dirty="0" err="1">
                <a:effectLst/>
                <a:latin typeface="Consolas" panose="020B0609020204030204" pitchFamily="49" charset="0"/>
              </a:rPr>
              <a:t>df.head</a:t>
            </a:r>
            <a:r>
              <a:rPr lang="fr-MA" b="1" dirty="0">
                <a:effectLst/>
                <a:latin typeface="Consolas" panose="020B0609020204030204" pitchFamily="49" charset="0"/>
              </a:rPr>
              <a:t>())</a:t>
            </a:r>
          </a:p>
          <a:p>
            <a:pPr>
              <a:lnSpc>
                <a:spcPts val="1425"/>
              </a:lnSpc>
              <a:buNone/>
            </a:pPr>
            <a:r>
              <a:rPr lang="fr-MA" b="1" dirty="0">
                <a:effectLst/>
                <a:latin typeface="Consolas" panose="020B0609020204030204" pitchFamily="49" charset="0"/>
              </a:rPr>
              <a:t>    return </a:t>
            </a:r>
            <a:r>
              <a:rPr lang="fr-MA" b="1" dirty="0" err="1">
                <a:effectLst/>
                <a:latin typeface="Consolas" panose="020B0609020204030204" pitchFamily="49" charset="0"/>
              </a:rPr>
              <a:t>df</a:t>
            </a:r>
            <a:endParaRPr lang="fr-MA" b="1" dirty="0">
              <a:effectLst/>
              <a:latin typeface="Consolas" panose="020B0609020204030204" pitchFamily="49" charset="0"/>
            </a:endParaRPr>
          </a:p>
          <a:p>
            <a:pPr>
              <a:lnSpc>
                <a:spcPts val="1425"/>
              </a:lnSpc>
              <a:buNone/>
            </a:pPr>
            <a:br>
              <a:rPr lang="fr-MA" b="1" dirty="0">
                <a:effectLst/>
                <a:latin typeface="Consolas" panose="020B0609020204030204" pitchFamily="49" charset="0"/>
              </a:rPr>
            </a:br>
            <a:endParaRPr lang="fr-MA" b="1" dirty="0">
              <a:effectLst/>
              <a:latin typeface="Consolas" panose="020B0609020204030204" pitchFamily="49" charset="0"/>
            </a:endParaRPr>
          </a:p>
          <a:p>
            <a:pPr>
              <a:lnSpc>
                <a:spcPts val="1425"/>
              </a:lnSpc>
              <a:buNone/>
            </a:pPr>
            <a:r>
              <a:rPr lang="fr-MA" b="1" dirty="0">
                <a:effectLst/>
                <a:latin typeface="Consolas" panose="020B0609020204030204" pitchFamily="49" charset="0"/>
              </a:rPr>
              <a:t>@asset</a:t>
            </a:r>
          </a:p>
          <a:p>
            <a:pPr>
              <a:lnSpc>
                <a:spcPts val="1425"/>
              </a:lnSpc>
              <a:buNone/>
            </a:pPr>
            <a:r>
              <a:rPr lang="fr-MA" b="1" dirty="0" err="1">
                <a:effectLst/>
                <a:latin typeface="Consolas" panose="020B0609020204030204" pitchFamily="49" charset="0"/>
              </a:rPr>
              <a:t>def</a:t>
            </a:r>
            <a:r>
              <a:rPr lang="fr-MA" b="1" dirty="0">
                <a:effectLst/>
                <a:latin typeface="Consolas" panose="020B0609020204030204" pitchFamily="49" charset="0"/>
              </a:rPr>
              <a:t> </a:t>
            </a:r>
            <a:r>
              <a:rPr lang="fr-MA" b="1" dirty="0" err="1">
                <a:effectLst/>
                <a:latin typeface="Consolas" panose="020B0609020204030204" pitchFamily="49" charset="0"/>
              </a:rPr>
              <a:t>save_data</a:t>
            </a:r>
            <a:r>
              <a:rPr lang="fr-MA" b="1" dirty="0">
                <a:effectLst/>
                <a:latin typeface="Consolas" panose="020B0609020204030204" pitchFamily="49" charset="0"/>
              </a:rPr>
              <a:t>(</a:t>
            </a:r>
            <a:r>
              <a:rPr lang="fr-MA" b="1" dirty="0" err="1">
                <a:effectLst/>
                <a:latin typeface="Consolas" panose="020B0609020204030204" pitchFamily="49" charset="0"/>
              </a:rPr>
              <a:t>transform_data</a:t>
            </a:r>
            <a:r>
              <a:rPr lang="fr-MA" b="1" dirty="0">
                <a:effectLst/>
                <a:latin typeface="Consolas" panose="020B0609020204030204" pitchFamily="49" charset="0"/>
              </a:rPr>
              <a:t>):</a:t>
            </a:r>
          </a:p>
          <a:p>
            <a:pPr>
              <a:lnSpc>
                <a:spcPts val="1425"/>
              </a:lnSpc>
              <a:buNone/>
            </a:pPr>
            <a:r>
              <a:rPr lang="fr-MA" b="1" dirty="0">
                <a:effectLst/>
                <a:latin typeface="Consolas" panose="020B0609020204030204" pitchFamily="49" charset="0"/>
              </a:rPr>
              <a:t>    </a:t>
            </a:r>
            <a:r>
              <a:rPr lang="fr-MA" b="1" dirty="0" err="1">
                <a:effectLst/>
                <a:latin typeface="Consolas" panose="020B0609020204030204" pitchFamily="49" charset="0"/>
              </a:rPr>
              <a:t>df</a:t>
            </a:r>
            <a:r>
              <a:rPr lang="fr-MA" b="1" dirty="0">
                <a:effectLst/>
                <a:latin typeface="Consolas" panose="020B0609020204030204" pitchFamily="49" charset="0"/>
              </a:rPr>
              <a:t> = </a:t>
            </a:r>
            <a:r>
              <a:rPr lang="fr-MA" b="1" dirty="0" err="1">
                <a:effectLst/>
                <a:latin typeface="Consolas" panose="020B0609020204030204" pitchFamily="49" charset="0"/>
              </a:rPr>
              <a:t>transform_data</a:t>
            </a:r>
            <a:endParaRPr lang="fr-MA" b="1" dirty="0">
              <a:effectLst/>
              <a:latin typeface="Consolas" panose="020B0609020204030204" pitchFamily="49" charset="0"/>
            </a:endParaRPr>
          </a:p>
          <a:p>
            <a:pPr>
              <a:lnSpc>
                <a:spcPts val="1425"/>
              </a:lnSpc>
              <a:buNone/>
            </a:pPr>
            <a:r>
              <a:rPr lang="fr-MA" b="1" dirty="0">
                <a:effectLst/>
                <a:latin typeface="Consolas" panose="020B0609020204030204" pitchFamily="49" charset="0"/>
              </a:rPr>
              <a:t>    </a:t>
            </a:r>
            <a:r>
              <a:rPr lang="fr-MA" b="1" dirty="0" err="1">
                <a:effectLst/>
                <a:latin typeface="Consolas" panose="020B0609020204030204" pitchFamily="49" charset="0"/>
              </a:rPr>
              <a:t>df.to_csv</a:t>
            </a:r>
            <a:r>
              <a:rPr lang="fr-MA" b="1" dirty="0">
                <a:effectLst/>
                <a:latin typeface="Consolas" panose="020B0609020204030204" pitchFamily="49" charset="0"/>
              </a:rPr>
              <a:t>("output.csv", index=False)</a:t>
            </a:r>
          </a:p>
          <a:p>
            <a:pPr>
              <a:lnSpc>
                <a:spcPts val="1425"/>
              </a:lnSpc>
              <a:buNone/>
            </a:pPr>
            <a:r>
              <a:rPr lang="fr-MA" b="1" dirty="0">
                <a:effectLst/>
                <a:latin typeface="Consolas" panose="020B0609020204030204" pitchFamily="49" charset="0"/>
              </a:rPr>
              <a:t>    </a:t>
            </a:r>
            <a:r>
              <a:rPr lang="fr-MA" b="1" dirty="0" err="1">
                <a:effectLst/>
                <a:latin typeface="Consolas" panose="020B0609020204030204" pitchFamily="49" charset="0"/>
              </a:rPr>
              <a:t>print</a:t>
            </a:r>
            <a:r>
              <a:rPr lang="fr-MA" b="1" dirty="0">
                <a:effectLst/>
                <a:latin typeface="Consolas" panose="020B0609020204030204" pitchFamily="49" charset="0"/>
              </a:rPr>
              <a:t>("Data </a:t>
            </a:r>
            <a:r>
              <a:rPr lang="fr-MA" b="1" dirty="0" err="1">
                <a:effectLst/>
                <a:latin typeface="Consolas" panose="020B0609020204030204" pitchFamily="49" charset="0"/>
              </a:rPr>
              <a:t>saved</a:t>
            </a:r>
            <a:r>
              <a:rPr lang="fr-MA" b="1" dirty="0">
                <a:effectLst/>
                <a:latin typeface="Consolas" panose="020B0609020204030204" pitchFamily="49" charset="0"/>
              </a:rPr>
              <a:t> to output.csv")</a:t>
            </a:r>
          </a:p>
          <a:p>
            <a:pPr>
              <a:lnSpc>
                <a:spcPts val="1425"/>
              </a:lnSpc>
              <a:buNone/>
            </a:pPr>
            <a:r>
              <a:rPr lang="fr-MA" b="1" dirty="0">
                <a:effectLst/>
                <a:latin typeface="Consolas" panose="020B0609020204030204" pitchFamily="49" charset="0"/>
              </a:rPr>
              <a:t>    return "</a:t>
            </a:r>
            <a:r>
              <a:rPr lang="fr-MA" b="1" dirty="0" err="1">
                <a:effectLst/>
                <a:latin typeface="Consolas" panose="020B0609020204030204" pitchFamily="49" charset="0"/>
              </a:rPr>
              <a:t>Success</a:t>
            </a:r>
            <a:r>
              <a:rPr lang="fr-MA" b="1" dirty="0">
                <a:effectLst/>
                <a:latin typeface="Consolas" panose="020B0609020204030204" pitchFamily="49"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381000" y="1104900"/>
            <a:ext cx="3657600" cy="4953000"/>
          </a:xfrm>
          <a:prstGeom prst="rect">
            <a:avLst/>
          </a:prstGeom>
        </p:spPr>
      </p:pic>
      <p:pic>
        <p:nvPicPr>
          <p:cNvPr id="5" name="Image 3" descr="preencoded.png"/>
          <p:cNvPicPr>
            <a:picLocks noChangeAspect="1"/>
          </p:cNvPicPr>
          <p:nvPr/>
        </p:nvPicPr>
        <p:blipFill>
          <a:blip r:embed="rId6"/>
          <a:stretch>
            <a:fillRect/>
          </a:stretch>
        </p:blipFill>
        <p:spPr>
          <a:xfrm>
            <a:off x="381000" y="1104900"/>
            <a:ext cx="3657600" cy="381000"/>
          </a:xfrm>
          <a:prstGeom prst="rect">
            <a:avLst/>
          </a:prstGeom>
        </p:spPr>
      </p:pic>
      <p:pic>
        <p:nvPicPr>
          <p:cNvPr id="6" name="Image 4" descr="preencoded.png"/>
          <p:cNvPicPr>
            <a:picLocks noChangeAspect="1"/>
          </p:cNvPicPr>
          <p:nvPr/>
        </p:nvPicPr>
        <p:blipFill>
          <a:blip r:embed="rId7"/>
          <a:stretch>
            <a:fillRect/>
          </a:stretch>
        </p:blipFill>
        <p:spPr>
          <a:xfrm>
            <a:off x="495300" y="1219200"/>
            <a:ext cx="171450" cy="152400"/>
          </a:xfrm>
          <a:prstGeom prst="rect">
            <a:avLst/>
          </a:prstGeom>
        </p:spPr>
      </p:pic>
      <p:pic>
        <p:nvPicPr>
          <p:cNvPr id="7" name="Image 5" descr="preencoded.png"/>
          <p:cNvPicPr>
            <a:picLocks noChangeAspect="1"/>
          </p:cNvPicPr>
          <p:nvPr/>
        </p:nvPicPr>
        <p:blipFill>
          <a:blip r:embed="rId8"/>
          <a:stretch>
            <a:fillRect/>
          </a:stretch>
        </p:blipFill>
        <p:spPr>
          <a:xfrm>
            <a:off x="495300" y="1600200"/>
            <a:ext cx="3429000" cy="3352800"/>
          </a:xfrm>
          <a:prstGeom prst="rect">
            <a:avLst/>
          </a:prstGeom>
        </p:spPr>
      </p:pic>
      <p:pic>
        <p:nvPicPr>
          <p:cNvPr id="8" name="Image 6" descr="preencoded.png"/>
          <p:cNvPicPr>
            <a:picLocks noChangeAspect="1"/>
          </p:cNvPicPr>
          <p:nvPr/>
        </p:nvPicPr>
        <p:blipFill>
          <a:blip r:embed="rId9"/>
          <a:stretch>
            <a:fillRect/>
          </a:stretch>
        </p:blipFill>
        <p:spPr>
          <a:xfrm>
            <a:off x="1390650" y="2476500"/>
            <a:ext cx="609600" cy="609600"/>
          </a:xfrm>
          <a:prstGeom prst="rect">
            <a:avLst/>
          </a:prstGeom>
        </p:spPr>
      </p:pic>
      <p:pic>
        <p:nvPicPr>
          <p:cNvPr id="9" name="Image 7" descr="preencoded.png"/>
          <p:cNvPicPr>
            <a:picLocks noChangeAspect="1"/>
          </p:cNvPicPr>
          <p:nvPr/>
        </p:nvPicPr>
        <p:blipFill>
          <a:blip r:embed="rId10"/>
          <a:stretch>
            <a:fillRect/>
          </a:stretch>
        </p:blipFill>
        <p:spPr>
          <a:xfrm>
            <a:off x="1628775" y="2705100"/>
            <a:ext cx="133350" cy="152400"/>
          </a:xfrm>
          <a:prstGeom prst="rect">
            <a:avLst/>
          </a:prstGeom>
        </p:spPr>
      </p:pic>
      <p:pic>
        <p:nvPicPr>
          <p:cNvPr id="10" name="Image 8" descr="preencoded.png"/>
          <p:cNvPicPr>
            <a:picLocks noChangeAspect="1"/>
          </p:cNvPicPr>
          <p:nvPr/>
        </p:nvPicPr>
        <p:blipFill>
          <a:blip r:embed="rId11"/>
          <a:stretch>
            <a:fillRect/>
          </a:stretch>
        </p:blipFill>
        <p:spPr>
          <a:xfrm>
            <a:off x="2209800" y="3276600"/>
            <a:ext cx="609600" cy="609600"/>
          </a:xfrm>
          <a:prstGeom prst="rect">
            <a:avLst/>
          </a:prstGeom>
        </p:spPr>
      </p:pic>
      <p:pic>
        <p:nvPicPr>
          <p:cNvPr id="11" name="Image 9" descr="preencoded.png"/>
          <p:cNvPicPr>
            <a:picLocks noChangeAspect="1"/>
          </p:cNvPicPr>
          <p:nvPr/>
        </p:nvPicPr>
        <p:blipFill>
          <a:blip r:embed="rId12"/>
          <a:stretch>
            <a:fillRect/>
          </a:stretch>
        </p:blipFill>
        <p:spPr>
          <a:xfrm>
            <a:off x="2438400" y="3505200"/>
            <a:ext cx="152400" cy="152400"/>
          </a:xfrm>
          <a:prstGeom prst="rect">
            <a:avLst/>
          </a:prstGeom>
        </p:spPr>
      </p:pic>
      <p:pic>
        <p:nvPicPr>
          <p:cNvPr id="12" name="Image 10" descr="preencoded.png"/>
          <p:cNvPicPr>
            <a:picLocks noChangeAspect="1"/>
          </p:cNvPicPr>
          <p:nvPr/>
        </p:nvPicPr>
        <p:blipFill>
          <a:blip r:embed="rId13"/>
          <a:stretch>
            <a:fillRect/>
          </a:stretch>
        </p:blipFill>
        <p:spPr>
          <a:xfrm>
            <a:off x="3028950" y="4076700"/>
            <a:ext cx="609600" cy="609600"/>
          </a:xfrm>
          <a:prstGeom prst="rect">
            <a:avLst/>
          </a:prstGeom>
        </p:spPr>
      </p:pic>
      <p:pic>
        <p:nvPicPr>
          <p:cNvPr id="13" name="Image 11" descr="preencoded.png"/>
          <p:cNvPicPr>
            <a:picLocks noChangeAspect="1"/>
          </p:cNvPicPr>
          <p:nvPr/>
        </p:nvPicPr>
        <p:blipFill>
          <a:blip r:embed="rId14"/>
          <a:stretch>
            <a:fillRect/>
          </a:stretch>
        </p:blipFill>
        <p:spPr>
          <a:xfrm>
            <a:off x="3257550" y="4305300"/>
            <a:ext cx="152400" cy="152400"/>
          </a:xfrm>
          <a:prstGeom prst="rect">
            <a:avLst/>
          </a:prstGeom>
        </p:spPr>
      </p:pic>
      <p:pic>
        <p:nvPicPr>
          <p:cNvPr id="14" name="Image 12" descr="preencoded.png"/>
          <p:cNvPicPr>
            <a:picLocks noChangeAspect="1"/>
          </p:cNvPicPr>
          <p:nvPr/>
        </p:nvPicPr>
        <p:blipFill>
          <a:blip r:embed="rId15"/>
          <a:stretch>
            <a:fillRect/>
          </a:stretch>
        </p:blipFill>
        <p:spPr>
          <a:xfrm>
            <a:off x="1347695" y="2014445"/>
            <a:ext cx="1724209" cy="1724209"/>
          </a:xfrm>
          <a:prstGeom prst="rect">
            <a:avLst/>
          </a:prstGeom>
        </p:spPr>
      </p:pic>
      <p:pic>
        <p:nvPicPr>
          <p:cNvPr id="15" name="Image 13" descr="preencoded.png"/>
          <p:cNvPicPr>
            <a:picLocks noChangeAspect="1"/>
          </p:cNvPicPr>
          <p:nvPr/>
        </p:nvPicPr>
        <p:blipFill>
          <a:blip r:embed="rId16"/>
          <a:stretch>
            <a:fillRect/>
          </a:stretch>
        </p:blipFill>
        <p:spPr>
          <a:xfrm>
            <a:off x="2046884" y="3104159"/>
            <a:ext cx="1144983" cy="1144982"/>
          </a:xfrm>
          <a:prstGeom prst="rect">
            <a:avLst/>
          </a:prstGeom>
        </p:spPr>
      </p:pic>
      <p:pic>
        <p:nvPicPr>
          <p:cNvPr id="16" name="Image 14" descr="preencoded.png"/>
          <p:cNvPicPr>
            <a:picLocks noChangeAspect="1"/>
          </p:cNvPicPr>
          <p:nvPr/>
        </p:nvPicPr>
        <p:blipFill>
          <a:blip r:embed="rId17"/>
          <a:stretch>
            <a:fillRect/>
          </a:stretch>
        </p:blipFill>
        <p:spPr>
          <a:xfrm>
            <a:off x="4267200" y="1104900"/>
            <a:ext cx="3657600" cy="4953000"/>
          </a:xfrm>
          <a:prstGeom prst="rect">
            <a:avLst/>
          </a:prstGeom>
        </p:spPr>
      </p:pic>
      <p:pic>
        <p:nvPicPr>
          <p:cNvPr id="17" name="Image 15" descr="preencoded.png"/>
          <p:cNvPicPr>
            <a:picLocks noChangeAspect="1"/>
          </p:cNvPicPr>
          <p:nvPr/>
        </p:nvPicPr>
        <p:blipFill>
          <a:blip r:embed="rId6"/>
          <a:stretch>
            <a:fillRect/>
          </a:stretch>
        </p:blipFill>
        <p:spPr>
          <a:xfrm>
            <a:off x="4267200" y="1104900"/>
            <a:ext cx="3657600" cy="381000"/>
          </a:xfrm>
          <a:prstGeom prst="rect">
            <a:avLst/>
          </a:prstGeom>
        </p:spPr>
      </p:pic>
      <p:pic>
        <p:nvPicPr>
          <p:cNvPr id="18" name="Image 16" descr="preencoded.png"/>
          <p:cNvPicPr>
            <a:picLocks noChangeAspect="1"/>
          </p:cNvPicPr>
          <p:nvPr/>
        </p:nvPicPr>
        <p:blipFill>
          <a:blip r:embed="rId18"/>
          <a:stretch>
            <a:fillRect/>
          </a:stretch>
        </p:blipFill>
        <p:spPr>
          <a:xfrm>
            <a:off x="4381500" y="1219200"/>
            <a:ext cx="152400" cy="152400"/>
          </a:xfrm>
          <a:prstGeom prst="rect">
            <a:avLst/>
          </a:prstGeom>
        </p:spPr>
      </p:pic>
      <p:pic>
        <p:nvPicPr>
          <p:cNvPr id="19" name="Image 17" descr="preencoded.png"/>
          <p:cNvPicPr>
            <a:picLocks noChangeAspect="1"/>
          </p:cNvPicPr>
          <p:nvPr/>
        </p:nvPicPr>
        <p:blipFill>
          <a:blip r:embed="rId19"/>
          <a:stretch>
            <a:fillRect/>
          </a:stretch>
        </p:blipFill>
        <p:spPr>
          <a:xfrm>
            <a:off x="4381500" y="1600200"/>
            <a:ext cx="3429000" cy="400050"/>
          </a:xfrm>
          <a:prstGeom prst="rect">
            <a:avLst/>
          </a:prstGeom>
        </p:spPr>
      </p:pic>
      <p:pic>
        <p:nvPicPr>
          <p:cNvPr id="20" name="Image 18" descr="preencoded.png"/>
          <p:cNvPicPr>
            <a:picLocks noChangeAspect="1"/>
          </p:cNvPicPr>
          <p:nvPr/>
        </p:nvPicPr>
        <p:blipFill>
          <a:blip r:embed="rId20"/>
          <a:stretch>
            <a:fillRect/>
          </a:stretch>
        </p:blipFill>
        <p:spPr>
          <a:xfrm>
            <a:off x="4495800" y="1724025"/>
            <a:ext cx="152400" cy="152400"/>
          </a:xfrm>
          <a:prstGeom prst="rect">
            <a:avLst/>
          </a:prstGeom>
        </p:spPr>
      </p:pic>
      <p:pic>
        <p:nvPicPr>
          <p:cNvPr id="21" name="Image 19" descr="preencoded.png"/>
          <p:cNvPicPr>
            <a:picLocks noChangeAspect="1"/>
          </p:cNvPicPr>
          <p:nvPr/>
        </p:nvPicPr>
        <p:blipFill>
          <a:blip r:embed="rId21"/>
          <a:stretch>
            <a:fillRect/>
          </a:stretch>
        </p:blipFill>
        <p:spPr>
          <a:xfrm>
            <a:off x="6906816" y="1676400"/>
            <a:ext cx="789384" cy="247650"/>
          </a:xfrm>
          <a:prstGeom prst="rect">
            <a:avLst/>
          </a:prstGeom>
        </p:spPr>
      </p:pic>
      <p:pic>
        <p:nvPicPr>
          <p:cNvPr id="22" name="Image 20" descr="preencoded.png"/>
          <p:cNvPicPr>
            <a:picLocks noChangeAspect="1"/>
          </p:cNvPicPr>
          <p:nvPr/>
        </p:nvPicPr>
        <p:blipFill>
          <a:blip r:embed="rId22"/>
          <a:stretch>
            <a:fillRect/>
          </a:stretch>
        </p:blipFill>
        <p:spPr>
          <a:xfrm>
            <a:off x="6983016" y="1743075"/>
            <a:ext cx="114300" cy="114300"/>
          </a:xfrm>
          <a:prstGeom prst="rect">
            <a:avLst/>
          </a:prstGeom>
        </p:spPr>
      </p:pic>
      <p:pic>
        <p:nvPicPr>
          <p:cNvPr id="23" name="Image 21" descr="preencoded.png"/>
          <p:cNvPicPr>
            <a:picLocks noChangeAspect="1"/>
          </p:cNvPicPr>
          <p:nvPr/>
        </p:nvPicPr>
        <p:blipFill>
          <a:blip r:embed="rId23"/>
          <a:stretch>
            <a:fillRect/>
          </a:stretch>
        </p:blipFill>
        <p:spPr>
          <a:xfrm>
            <a:off x="4381500" y="2000250"/>
            <a:ext cx="3429000" cy="2952750"/>
          </a:xfrm>
          <a:prstGeom prst="rect">
            <a:avLst/>
          </a:prstGeom>
        </p:spPr>
      </p:pic>
      <p:pic>
        <p:nvPicPr>
          <p:cNvPr id="24" name="Image 22" descr="preencoded.png"/>
          <p:cNvPicPr>
            <a:picLocks noChangeAspect="1"/>
          </p:cNvPicPr>
          <p:nvPr/>
        </p:nvPicPr>
        <p:blipFill>
          <a:blip r:embed="rId24"/>
          <a:stretch>
            <a:fillRect/>
          </a:stretch>
        </p:blipFill>
        <p:spPr>
          <a:xfrm>
            <a:off x="4495800" y="2457450"/>
            <a:ext cx="114300" cy="114300"/>
          </a:xfrm>
          <a:prstGeom prst="rect">
            <a:avLst/>
          </a:prstGeom>
        </p:spPr>
      </p:pic>
      <p:pic>
        <p:nvPicPr>
          <p:cNvPr id="25" name="Image 23" descr="preencoded.png"/>
          <p:cNvPicPr>
            <a:picLocks noChangeAspect="1"/>
          </p:cNvPicPr>
          <p:nvPr/>
        </p:nvPicPr>
        <p:blipFill>
          <a:blip r:embed="rId24"/>
          <a:stretch>
            <a:fillRect/>
          </a:stretch>
        </p:blipFill>
        <p:spPr>
          <a:xfrm>
            <a:off x="4495800" y="2724150"/>
            <a:ext cx="114300" cy="114300"/>
          </a:xfrm>
          <a:prstGeom prst="rect">
            <a:avLst/>
          </a:prstGeom>
        </p:spPr>
      </p:pic>
      <p:pic>
        <p:nvPicPr>
          <p:cNvPr id="26" name="Image 24" descr="preencoded.png"/>
          <p:cNvPicPr>
            <a:picLocks noChangeAspect="1"/>
          </p:cNvPicPr>
          <p:nvPr/>
        </p:nvPicPr>
        <p:blipFill>
          <a:blip r:embed="rId24"/>
          <a:stretch>
            <a:fillRect/>
          </a:stretch>
        </p:blipFill>
        <p:spPr>
          <a:xfrm>
            <a:off x="4495800" y="2990850"/>
            <a:ext cx="114300" cy="114300"/>
          </a:xfrm>
          <a:prstGeom prst="rect">
            <a:avLst/>
          </a:prstGeom>
        </p:spPr>
      </p:pic>
      <p:pic>
        <p:nvPicPr>
          <p:cNvPr id="27" name="Image 25" descr="preencoded.png"/>
          <p:cNvPicPr>
            <a:picLocks noChangeAspect="1"/>
          </p:cNvPicPr>
          <p:nvPr/>
        </p:nvPicPr>
        <p:blipFill>
          <a:blip r:embed="rId17"/>
          <a:stretch>
            <a:fillRect/>
          </a:stretch>
        </p:blipFill>
        <p:spPr>
          <a:xfrm>
            <a:off x="8153400" y="1104900"/>
            <a:ext cx="3657600" cy="4953000"/>
          </a:xfrm>
          <a:prstGeom prst="rect">
            <a:avLst/>
          </a:prstGeom>
        </p:spPr>
      </p:pic>
      <p:pic>
        <p:nvPicPr>
          <p:cNvPr id="28" name="Image 26" descr="preencoded.png"/>
          <p:cNvPicPr>
            <a:picLocks noChangeAspect="1"/>
          </p:cNvPicPr>
          <p:nvPr/>
        </p:nvPicPr>
        <p:blipFill>
          <a:blip r:embed="rId6"/>
          <a:stretch>
            <a:fillRect/>
          </a:stretch>
        </p:blipFill>
        <p:spPr>
          <a:xfrm>
            <a:off x="8153400" y="1104900"/>
            <a:ext cx="3657600" cy="381000"/>
          </a:xfrm>
          <a:prstGeom prst="rect">
            <a:avLst/>
          </a:prstGeom>
        </p:spPr>
      </p:pic>
      <p:pic>
        <p:nvPicPr>
          <p:cNvPr id="29" name="Image 27" descr="preencoded.png"/>
          <p:cNvPicPr>
            <a:picLocks noChangeAspect="1"/>
          </p:cNvPicPr>
          <p:nvPr/>
        </p:nvPicPr>
        <p:blipFill>
          <a:blip r:embed="rId25"/>
          <a:stretch>
            <a:fillRect/>
          </a:stretch>
        </p:blipFill>
        <p:spPr>
          <a:xfrm>
            <a:off x="8267700" y="1219200"/>
            <a:ext cx="114300" cy="152400"/>
          </a:xfrm>
          <a:prstGeom prst="rect">
            <a:avLst/>
          </a:prstGeom>
        </p:spPr>
      </p:pic>
      <p:pic>
        <p:nvPicPr>
          <p:cNvPr id="30" name="Image 28" descr="preencoded.png"/>
          <p:cNvPicPr>
            <a:picLocks noChangeAspect="1"/>
          </p:cNvPicPr>
          <p:nvPr/>
        </p:nvPicPr>
        <p:blipFill>
          <a:blip r:embed="rId26"/>
          <a:stretch>
            <a:fillRect/>
          </a:stretch>
        </p:blipFill>
        <p:spPr>
          <a:xfrm>
            <a:off x="8267700" y="1600200"/>
            <a:ext cx="3429000" cy="381000"/>
          </a:xfrm>
          <a:prstGeom prst="rect">
            <a:avLst/>
          </a:prstGeom>
        </p:spPr>
      </p:pic>
      <p:pic>
        <p:nvPicPr>
          <p:cNvPr id="31" name="Image 29" descr="preencoded.png"/>
          <p:cNvPicPr>
            <a:picLocks noChangeAspect="1"/>
          </p:cNvPicPr>
          <p:nvPr/>
        </p:nvPicPr>
        <p:blipFill>
          <a:blip r:embed="rId27"/>
          <a:stretch>
            <a:fillRect/>
          </a:stretch>
        </p:blipFill>
        <p:spPr>
          <a:xfrm>
            <a:off x="8382000" y="1714500"/>
            <a:ext cx="152400" cy="152400"/>
          </a:xfrm>
          <a:prstGeom prst="rect">
            <a:avLst/>
          </a:prstGeom>
        </p:spPr>
      </p:pic>
      <p:pic>
        <p:nvPicPr>
          <p:cNvPr id="32" name="Image 30" descr="preencoded.png"/>
          <p:cNvPicPr>
            <a:picLocks noChangeAspect="1"/>
          </p:cNvPicPr>
          <p:nvPr/>
        </p:nvPicPr>
        <p:blipFill>
          <a:blip r:embed="rId28"/>
          <a:stretch>
            <a:fillRect/>
          </a:stretch>
        </p:blipFill>
        <p:spPr>
          <a:xfrm>
            <a:off x="10023574" y="1676400"/>
            <a:ext cx="427434" cy="228600"/>
          </a:xfrm>
          <a:prstGeom prst="rect">
            <a:avLst/>
          </a:prstGeom>
        </p:spPr>
      </p:pic>
      <p:pic>
        <p:nvPicPr>
          <p:cNvPr id="33" name="Image 31" descr="preencoded.png"/>
          <p:cNvPicPr>
            <a:picLocks noChangeAspect="1"/>
          </p:cNvPicPr>
          <p:nvPr/>
        </p:nvPicPr>
        <p:blipFill>
          <a:blip r:embed="rId29"/>
          <a:stretch>
            <a:fillRect/>
          </a:stretch>
        </p:blipFill>
        <p:spPr>
          <a:xfrm>
            <a:off x="10489109" y="1676400"/>
            <a:ext cx="502295" cy="228600"/>
          </a:xfrm>
          <a:prstGeom prst="rect">
            <a:avLst/>
          </a:prstGeom>
        </p:spPr>
      </p:pic>
      <p:pic>
        <p:nvPicPr>
          <p:cNvPr id="34" name="Image 32" descr="preencoded.png"/>
          <p:cNvPicPr>
            <a:picLocks noChangeAspect="1"/>
          </p:cNvPicPr>
          <p:nvPr/>
        </p:nvPicPr>
        <p:blipFill>
          <a:blip r:embed="rId30"/>
          <a:stretch>
            <a:fillRect/>
          </a:stretch>
        </p:blipFill>
        <p:spPr>
          <a:xfrm>
            <a:off x="11029504" y="1676400"/>
            <a:ext cx="552896" cy="228600"/>
          </a:xfrm>
          <a:prstGeom prst="rect">
            <a:avLst/>
          </a:prstGeom>
        </p:spPr>
      </p:pic>
      <p:pic>
        <p:nvPicPr>
          <p:cNvPr id="35" name="Image 33" descr="preencoded.png"/>
          <p:cNvPicPr>
            <a:picLocks noChangeAspect="1"/>
          </p:cNvPicPr>
          <p:nvPr/>
        </p:nvPicPr>
        <p:blipFill>
          <a:blip r:embed="rId31"/>
          <a:stretch>
            <a:fillRect/>
          </a:stretch>
        </p:blipFill>
        <p:spPr>
          <a:xfrm>
            <a:off x="8267700" y="1981200"/>
            <a:ext cx="3429000" cy="3162300"/>
          </a:xfrm>
          <a:prstGeom prst="rect">
            <a:avLst/>
          </a:prstGeom>
        </p:spPr>
      </p:pic>
      <p:sp>
        <p:nvSpPr>
          <p:cNvPr id="36"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Démonstration</a:t>
            </a:r>
            <a:endParaRPr lang="en-US" sz="2700" dirty="0"/>
          </a:p>
        </p:txBody>
      </p:sp>
      <p:sp>
        <p:nvSpPr>
          <p:cNvPr id="37" name="Text 1"/>
          <p:cNvSpPr/>
          <p:nvPr/>
        </p:nvSpPr>
        <p:spPr>
          <a:xfrm>
            <a:off x="742950" y="1181100"/>
            <a:ext cx="2337614"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Vue du pipeline (Lineage)</a:t>
            </a:r>
            <a:endParaRPr lang="en-US" sz="1200" dirty="0"/>
          </a:p>
        </p:txBody>
      </p:sp>
      <p:sp>
        <p:nvSpPr>
          <p:cNvPr id="38" name="Text 2"/>
          <p:cNvSpPr/>
          <p:nvPr/>
        </p:nvSpPr>
        <p:spPr>
          <a:xfrm>
            <a:off x="609600" y="5067300"/>
            <a:ext cx="32004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Capture d'écran montrant la visualisation graphique du pipeline dans Dagit. Chaque "asset" est clairement connecté, illustrant les dépendances et le flux de données.</a:t>
            </a:r>
            <a:endParaRPr lang="en-US" sz="1050" dirty="0"/>
          </a:p>
        </p:txBody>
      </p:sp>
      <p:sp>
        <p:nvSpPr>
          <p:cNvPr id="39" name="Text 3"/>
          <p:cNvSpPr/>
          <p:nvPr/>
        </p:nvSpPr>
        <p:spPr>
          <a:xfrm>
            <a:off x="4610100" y="1181100"/>
            <a:ext cx="2954834"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Exécution réussie (Run Success)</a:t>
            </a:r>
            <a:endParaRPr lang="en-US" sz="1200" dirty="0"/>
          </a:p>
        </p:txBody>
      </p:sp>
      <p:sp>
        <p:nvSpPr>
          <p:cNvPr id="40" name="Text 4"/>
          <p:cNvSpPr/>
          <p:nvPr/>
        </p:nvSpPr>
        <p:spPr>
          <a:xfrm>
            <a:off x="4724400" y="1704975"/>
            <a:ext cx="1947922"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Démarrer une exécution</a:t>
            </a:r>
            <a:endParaRPr lang="en-US" sz="1050" dirty="0"/>
          </a:p>
        </p:txBody>
      </p:sp>
      <p:sp>
        <p:nvSpPr>
          <p:cNvPr id="41" name="Text 5"/>
          <p:cNvSpPr/>
          <p:nvPr/>
        </p:nvSpPr>
        <p:spPr>
          <a:xfrm>
            <a:off x="7135416" y="1676400"/>
            <a:ext cx="947261" cy="247650"/>
          </a:xfrm>
          <a:prstGeom prst="rect">
            <a:avLst/>
          </a:prstGeom>
          <a:noFill/>
          <a:ln/>
        </p:spPr>
        <p:txBody>
          <a:bodyPr vert="horz" wrap="square" lIns="0" tIns="0" rIns="0" bIns="0" rtlCol="0" anchor="t"/>
          <a:lstStyle/>
          <a:p>
            <a:pPr marL="0" indent="0">
              <a:lnSpc>
                <a:spcPts val="1350"/>
              </a:lnSpc>
              <a:buNone/>
            </a:pPr>
            <a:r>
              <a:rPr lang="en-US" sz="900" b="1" dirty="0">
                <a:solidFill>
                  <a:srgbClr val="047857"/>
                </a:solidFill>
                <a:latin typeface="ui-sans-serif" pitchFamily="34" charset="0"/>
                <a:ea typeface="ui-sans-serif" pitchFamily="34" charset="-122"/>
                <a:cs typeface="ui-sans-serif" pitchFamily="34" charset="-120"/>
              </a:rPr>
              <a:t> Succès</a:t>
            </a:r>
            <a:endParaRPr lang="en-US" sz="900" dirty="0"/>
          </a:p>
        </p:txBody>
      </p:sp>
      <p:sp>
        <p:nvSpPr>
          <p:cNvPr id="42" name="Text 6"/>
          <p:cNvSpPr/>
          <p:nvPr/>
        </p:nvSpPr>
        <p:spPr>
          <a:xfrm>
            <a:off x="4495800" y="2114550"/>
            <a:ext cx="1724858"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Détails de l'exécution</a:t>
            </a:r>
            <a:endParaRPr lang="en-US" sz="1050" dirty="0"/>
          </a:p>
        </p:txBody>
      </p:sp>
      <p:sp>
        <p:nvSpPr>
          <p:cNvPr id="43" name="Text 7"/>
          <p:cNvSpPr/>
          <p:nvPr/>
        </p:nvSpPr>
        <p:spPr>
          <a:xfrm>
            <a:off x="6812310" y="2133600"/>
            <a:ext cx="1060668" cy="152400"/>
          </a:xfrm>
          <a:prstGeom prst="rect">
            <a:avLst/>
          </a:prstGeom>
          <a:noFill/>
          <a:ln/>
        </p:spPr>
        <p:txBody>
          <a:bodyPr vert="horz" wrap="square" lIns="0" tIns="0" rIns="0" bIns="0" rtlCol="0" anchor="t"/>
          <a:lstStyle/>
          <a:p>
            <a:pPr marL="0" indent="0">
              <a:lnSpc>
                <a:spcPts val="1200"/>
              </a:lnSpc>
              <a:buNone/>
            </a:pPr>
            <a:r>
              <a:rPr lang="en-US" sz="900" dirty="0">
                <a:solidFill>
                  <a:srgbClr val="6B7280"/>
                </a:solidFill>
                <a:latin typeface="ui-sans-serif" pitchFamily="34" charset="0"/>
                <a:ea typeface="ui-sans-serif" pitchFamily="34" charset="-122"/>
                <a:cs typeface="ui-sans-serif" pitchFamily="34" charset="-120"/>
              </a:rPr>
              <a:t>Il y a 2 minutes</a:t>
            </a:r>
            <a:endParaRPr lang="en-US" sz="900" dirty="0"/>
          </a:p>
        </p:txBody>
      </p:sp>
      <p:sp>
        <p:nvSpPr>
          <p:cNvPr id="44" name="Text 8"/>
          <p:cNvSpPr/>
          <p:nvPr/>
        </p:nvSpPr>
        <p:spPr>
          <a:xfrm>
            <a:off x="4686300" y="2419350"/>
            <a:ext cx="735270"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raw_data</a:t>
            </a:r>
            <a:endParaRPr lang="en-US" sz="1050" dirty="0"/>
          </a:p>
        </p:txBody>
      </p:sp>
      <p:sp>
        <p:nvSpPr>
          <p:cNvPr id="45" name="Text 9"/>
          <p:cNvSpPr/>
          <p:nvPr/>
        </p:nvSpPr>
        <p:spPr>
          <a:xfrm>
            <a:off x="7270700" y="2438400"/>
            <a:ext cx="510600" cy="152400"/>
          </a:xfrm>
          <a:prstGeom prst="rect">
            <a:avLst/>
          </a:prstGeom>
          <a:noFill/>
          <a:ln/>
        </p:spPr>
        <p:txBody>
          <a:bodyPr vert="horz" wrap="square" lIns="0" tIns="0" rIns="0" bIns="0" rtlCol="0" anchor="t"/>
          <a:lstStyle/>
          <a:p>
            <a:pPr marL="0" indent="0">
              <a:lnSpc>
                <a:spcPts val="1200"/>
              </a:lnSpc>
              <a:buNone/>
            </a:pPr>
            <a:r>
              <a:rPr lang="en-US" sz="900" dirty="0">
                <a:solidFill>
                  <a:srgbClr val="6B7280"/>
                </a:solidFill>
                <a:latin typeface="ui-sans-serif" pitchFamily="34" charset="0"/>
                <a:ea typeface="ui-sans-serif" pitchFamily="34" charset="-122"/>
                <a:cs typeface="ui-sans-serif" pitchFamily="34" charset="-120"/>
              </a:rPr>
              <a:t>0m0.5s</a:t>
            </a:r>
            <a:endParaRPr lang="en-US" sz="900" dirty="0"/>
          </a:p>
        </p:txBody>
      </p:sp>
      <p:sp>
        <p:nvSpPr>
          <p:cNvPr id="46" name="Text 10"/>
          <p:cNvSpPr/>
          <p:nvPr/>
        </p:nvSpPr>
        <p:spPr>
          <a:xfrm>
            <a:off x="4686300" y="2686050"/>
            <a:ext cx="1070848"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cleaned_data</a:t>
            </a:r>
            <a:endParaRPr lang="en-US" sz="1050" dirty="0"/>
          </a:p>
        </p:txBody>
      </p:sp>
      <p:sp>
        <p:nvSpPr>
          <p:cNvPr id="47" name="Text 11"/>
          <p:cNvSpPr/>
          <p:nvPr/>
        </p:nvSpPr>
        <p:spPr>
          <a:xfrm>
            <a:off x="7270700" y="2705100"/>
            <a:ext cx="510600" cy="152400"/>
          </a:xfrm>
          <a:prstGeom prst="rect">
            <a:avLst/>
          </a:prstGeom>
          <a:noFill/>
          <a:ln/>
        </p:spPr>
        <p:txBody>
          <a:bodyPr vert="horz" wrap="square" lIns="0" tIns="0" rIns="0" bIns="0" rtlCol="0" anchor="t"/>
          <a:lstStyle/>
          <a:p>
            <a:pPr marL="0" indent="0">
              <a:lnSpc>
                <a:spcPts val="1200"/>
              </a:lnSpc>
              <a:buNone/>
            </a:pPr>
            <a:r>
              <a:rPr lang="en-US" sz="900" dirty="0">
                <a:solidFill>
                  <a:srgbClr val="6B7280"/>
                </a:solidFill>
                <a:latin typeface="ui-sans-serif" pitchFamily="34" charset="0"/>
                <a:ea typeface="ui-sans-serif" pitchFamily="34" charset="-122"/>
                <a:cs typeface="ui-sans-serif" pitchFamily="34" charset="-120"/>
              </a:rPr>
              <a:t>0m1.2s</a:t>
            </a:r>
            <a:endParaRPr lang="en-US" sz="900" dirty="0"/>
          </a:p>
        </p:txBody>
      </p:sp>
      <p:sp>
        <p:nvSpPr>
          <p:cNvPr id="48" name="Text 12"/>
          <p:cNvSpPr/>
          <p:nvPr/>
        </p:nvSpPr>
        <p:spPr>
          <a:xfrm>
            <a:off x="4686300" y="2952750"/>
            <a:ext cx="1553408"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transformed_report</a:t>
            </a:r>
            <a:endParaRPr lang="en-US" sz="1050" dirty="0"/>
          </a:p>
        </p:txBody>
      </p:sp>
      <p:sp>
        <p:nvSpPr>
          <p:cNvPr id="49" name="Text 13"/>
          <p:cNvSpPr/>
          <p:nvPr/>
        </p:nvSpPr>
        <p:spPr>
          <a:xfrm>
            <a:off x="7270700" y="2971800"/>
            <a:ext cx="510600" cy="152400"/>
          </a:xfrm>
          <a:prstGeom prst="rect">
            <a:avLst/>
          </a:prstGeom>
          <a:noFill/>
          <a:ln/>
        </p:spPr>
        <p:txBody>
          <a:bodyPr vert="horz" wrap="square" lIns="0" tIns="0" rIns="0" bIns="0" rtlCol="0" anchor="t"/>
          <a:lstStyle/>
          <a:p>
            <a:pPr marL="0" indent="0">
              <a:lnSpc>
                <a:spcPts val="1200"/>
              </a:lnSpc>
              <a:buNone/>
            </a:pPr>
            <a:r>
              <a:rPr lang="en-US" sz="900" dirty="0">
                <a:solidFill>
                  <a:srgbClr val="6B7280"/>
                </a:solidFill>
                <a:latin typeface="ui-sans-serif" pitchFamily="34" charset="0"/>
                <a:ea typeface="ui-sans-serif" pitchFamily="34" charset="-122"/>
                <a:cs typeface="ui-sans-serif" pitchFamily="34" charset="-120"/>
              </a:rPr>
              <a:t>0m2.1s</a:t>
            </a:r>
            <a:endParaRPr lang="en-US" sz="900" dirty="0"/>
          </a:p>
        </p:txBody>
      </p:sp>
      <p:sp>
        <p:nvSpPr>
          <p:cNvPr id="50" name="Text 14"/>
          <p:cNvSpPr/>
          <p:nvPr/>
        </p:nvSpPr>
        <p:spPr>
          <a:xfrm>
            <a:off x="4495800" y="5067300"/>
            <a:ext cx="32004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Vue de l'état d'une exécution de pipeline dans Dagit, affichant un succès. Cela met en évidence la capacité de Dagster à exécuter des tâches de manière fiable.</a:t>
            </a:r>
            <a:endParaRPr lang="en-US" sz="1050" dirty="0"/>
          </a:p>
        </p:txBody>
      </p:sp>
      <p:sp>
        <p:nvSpPr>
          <p:cNvPr id="51" name="Text 15"/>
          <p:cNvSpPr/>
          <p:nvPr/>
        </p:nvSpPr>
        <p:spPr>
          <a:xfrm>
            <a:off x="8458200" y="1181100"/>
            <a:ext cx="1537692"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Logs d'exécution</a:t>
            </a:r>
            <a:endParaRPr lang="en-US" sz="1200" dirty="0"/>
          </a:p>
        </p:txBody>
      </p:sp>
      <p:sp>
        <p:nvSpPr>
          <p:cNvPr id="52" name="Text 16"/>
          <p:cNvSpPr/>
          <p:nvPr/>
        </p:nvSpPr>
        <p:spPr>
          <a:xfrm>
            <a:off x="8610600" y="1695450"/>
            <a:ext cx="1185505"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Logs de l'asset</a:t>
            </a:r>
            <a:endParaRPr lang="en-US" sz="1050" dirty="0"/>
          </a:p>
        </p:txBody>
      </p:sp>
      <p:sp>
        <p:nvSpPr>
          <p:cNvPr id="53" name="Text 17"/>
          <p:cNvSpPr/>
          <p:nvPr/>
        </p:nvSpPr>
        <p:spPr>
          <a:xfrm>
            <a:off x="10099774" y="1676400"/>
            <a:ext cx="512921" cy="228600"/>
          </a:xfrm>
          <a:prstGeom prst="rect">
            <a:avLst/>
          </a:prstGeom>
          <a:noFill/>
          <a:ln/>
        </p:spPr>
        <p:txBody>
          <a:bodyPr vert="horz" wrap="square" lIns="0" tIns="0" rIns="0" bIns="0" rtlCol="0" anchor="t"/>
          <a:lstStyle/>
          <a:p>
            <a:pPr marL="0" indent="0">
              <a:lnSpc>
                <a:spcPts val="1200"/>
              </a:lnSpc>
              <a:buNone/>
            </a:pPr>
            <a:r>
              <a:rPr lang="en-US" sz="900" dirty="0">
                <a:solidFill>
                  <a:srgbClr val="1E40AF"/>
                </a:solidFill>
                <a:latin typeface="ui-sans-serif" pitchFamily="34" charset="0"/>
                <a:ea typeface="ui-sans-serif" pitchFamily="34" charset="-122"/>
                <a:cs typeface="ui-sans-serif" pitchFamily="34" charset="-120"/>
              </a:rPr>
              <a:t>INFO</a:t>
            </a:r>
            <a:endParaRPr lang="en-US" sz="900" dirty="0"/>
          </a:p>
        </p:txBody>
      </p:sp>
      <p:sp>
        <p:nvSpPr>
          <p:cNvPr id="54" name="Text 18"/>
          <p:cNvSpPr/>
          <p:nvPr/>
        </p:nvSpPr>
        <p:spPr>
          <a:xfrm>
            <a:off x="10565309" y="1676400"/>
            <a:ext cx="602754" cy="228600"/>
          </a:xfrm>
          <a:prstGeom prst="rect">
            <a:avLst/>
          </a:prstGeom>
          <a:noFill/>
          <a:ln/>
        </p:spPr>
        <p:txBody>
          <a:bodyPr vert="horz" wrap="square" lIns="0" tIns="0" rIns="0" bIns="0" rtlCol="0" anchor="t"/>
          <a:lstStyle/>
          <a:p>
            <a:pPr marL="0" indent="0">
              <a:lnSpc>
                <a:spcPts val="1200"/>
              </a:lnSpc>
              <a:buNone/>
            </a:pPr>
            <a:r>
              <a:rPr lang="en-US" sz="900" dirty="0">
                <a:solidFill>
                  <a:srgbClr val="1F2937"/>
                </a:solidFill>
                <a:latin typeface="ui-sans-serif" pitchFamily="34" charset="0"/>
                <a:ea typeface="ui-sans-serif" pitchFamily="34" charset="-122"/>
                <a:cs typeface="ui-sans-serif" pitchFamily="34" charset="-120"/>
              </a:rPr>
              <a:t>WARN</a:t>
            </a:r>
            <a:endParaRPr lang="en-US" sz="900" dirty="0"/>
          </a:p>
        </p:txBody>
      </p:sp>
      <p:sp>
        <p:nvSpPr>
          <p:cNvPr id="55" name="Text 19"/>
          <p:cNvSpPr/>
          <p:nvPr/>
        </p:nvSpPr>
        <p:spPr>
          <a:xfrm>
            <a:off x="11105704" y="1676400"/>
            <a:ext cx="663476" cy="228600"/>
          </a:xfrm>
          <a:prstGeom prst="rect">
            <a:avLst/>
          </a:prstGeom>
          <a:noFill/>
          <a:ln/>
        </p:spPr>
        <p:txBody>
          <a:bodyPr vert="horz" wrap="square" lIns="0" tIns="0" rIns="0" bIns="0" rtlCol="0" anchor="t"/>
          <a:lstStyle/>
          <a:p>
            <a:pPr marL="0" indent="0">
              <a:lnSpc>
                <a:spcPts val="1200"/>
              </a:lnSpc>
              <a:buNone/>
            </a:pPr>
            <a:r>
              <a:rPr lang="en-US" sz="900" dirty="0">
                <a:solidFill>
                  <a:srgbClr val="1F2937"/>
                </a:solidFill>
                <a:latin typeface="ui-sans-serif" pitchFamily="34" charset="0"/>
                <a:ea typeface="ui-sans-serif" pitchFamily="34" charset="-122"/>
                <a:cs typeface="ui-sans-serif" pitchFamily="34" charset="-120"/>
              </a:rPr>
              <a:t>ERROR</a:t>
            </a:r>
            <a:endParaRPr lang="en-US" sz="900" dirty="0"/>
          </a:p>
        </p:txBody>
      </p:sp>
      <p:sp>
        <p:nvSpPr>
          <p:cNvPr id="56" name="Text 20"/>
          <p:cNvSpPr/>
          <p:nvPr/>
        </p:nvSpPr>
        <p:spPr>
          <a:xfrm>
            <a:off x="8420100" y="2095500"/>
            <a:ext cx="3200400" cy="381000"/>
          </a:xfrm>
          <a:prstGeom prst="rect">
            <a:avLst/>
          </a:prstGeom>
          <a:noFill/>
          <a:ln/>
        </p:spPr>
        <p:txBody>
          <a:bodyPr vert="horz" wrap="square" lIns="0" tIns="0" rIns="0" bIns="0" rtlCol="0" anchor="t"/>
          <a:lstStyle/>
          <a:p>
            <a:pPr marL="0" indent="0">
              <a:lnSpc>
                <a:spcPts val="1350"/>
              </a:lnSpc>
              <a:buNone/>
            </a:pPr>
            <a:r>
              <a:rPr lang="en-US" sz="900" b="1" dirty="0">
                <a:solidFill>
                  <a:srgbClr val="FFFFFF"/>
                </a:solidFill>
                <a:latin typeface="Arial" pitchFamily="34" charset="0"/>
                <a:ea typeface="Arial" pitchFamily="34" charset="-122"/>
                <a:cs typeface="Arial" pitchFamily="34" charset="-120"/>
              </a:rPr>
              <a:t>INFO</a:t>
            </a:r>
            <a:r>
              <a:rPr lang="en-US" sz="900" dirty="0">
                <a:solidFill>
                  <a:srgbClr val="FFFFFF"/>
                </a:solidFill>
                <a:latin typeface="Arial" pitchFamily="34" charset="0"/>
                <a:ea typeface="Arial" pitchFamily="34" charset="-122"/>
                <a:cs typeface="Arial" pitchFamily="34" charset="-120"/>
              </a:rPr>
              <a:t> Asset `cleaned_data` materialized successfully</a:t>
            </a:r>
            <a:endParaRPr lang="en-US" sz="900" dirty="0"/>
          </a:p>
        </p:txBody>
      </p:sp>
      <p:sp>
        <p:nvSpPr>
          <p:cNvPr id="57" name="Text 21"/>
          <p:cNvSpPr/>
          <p:nvPr/>
        </p:nvSpPr>
        <p:spPr>
          <a:xfrm>
            <a:off x="8420100" y="2476500"/>
            <a:ext cx="3200400" cy="381000"/>
          </a:xfrm>
          <a:prstGeom prst="rect">
            <a:avLst/>
          </a:prstGeom>
          <a:noFill/>
          <a:ln/>
        </p:spPr>
        <p:txBody>
          <a:bodyPr vert="horz" wrap="square" lIns="0" tIns="0" rIns="0" bIns="0" rtlCol="0" anchor="t"/>
          <a:lstStyle/>
          <a:p>
            <a:pPr marL="0" indent="0">
              <a:lnSpc>
                <a:spcPts val="1350"/>
              </a:lnSpc>
              <a:buNone/>
            </a:pPr>
            <a:r>
              <a:rPr lang="en-US" sz="900" b="1" dirty="0">
                <a:solidFill>
                  <a:srgbClr val="FFFFFF"/>
                </a:solidFill>
                <a:latin typeface="Arial" pitchFamily="34" charset="0"/>
                <a:ea typeface="Arial" pitchFamily="34" charset="-122"/>
                <a:cs typeface="Arial" pitchFamily="34" charset="-120"/>
              </a:rPr>
              <a:t>INFO</a:t>
            </a:r>
            <a:r>
              <a:rPr lang="en-US" sz="900" dirty="0">
                <a:solidFill>
                  <a:srgbClr val="FFFFFF"/>
                </a:solidFill>
                <a:latin typeface="Arial" pitchFamily="34" charset="0"/>
                <a:ea typeface="Arial" pitchFamily="34" charset="-122"/>
                <a:cs typeface="Arial" pitchFamily="34" charset="-120"/>
              </a:rPr>
              <a:t> Starting computation for `transformed_report`</a:t>
            </a:r>
            <a:endParaRPr lang="en-US" sz="900" dirty="0"/>
          </a:p>
        </p:txBody>
      </p:sp>
      <p:sp>
        <p:nvSpPr>
          <p:cNvPr id="58" name="Text 22"/>
          <p:cNvSpPr/>
          <p:nvPr/>
        </p:nvSpPr>
        <p:spPr>
          <a:xfrm>
            <a:off x="8420100" y="2857500"/>
            <a:ext cx="3840480" cy="209550"/>
          </a:xfrm>
          <a:prstGeom prst="rect">
            <a:avLst/>
          </a:prstGeom>
          <a:noFill/>
          <a:ln/>
        </p:spPr>
        <p:txBody>
          <a:bodyPr vert="horz" wrap="square" lIns="0" tIns="0" rIns="0" bIns="0" rtlCol="0" anchor="t"/>
          <a:lstStyle/>
          <a:p>
            <a:pPr marL="0" indent="0">
              <a:lnSpc>
                <a:spcPts val="1350"/>
              </a:lnSpc>
              <a:buNone/>
            </a:pPr>
            <a:r>
              <a:rPr lang="en-US" sz="900" b="1" dirty="0">
                <a:solidFill>
                  <a:srgbClr val="FFFFFF"/>
                </a:solidFill>
                <a:latin typeface="Arial" pitchFamily="34" charset="0"/>
                <a:ea typeface="Arial" pitchFamily="34" charset="-122"/>
                <a:cs typeface="Arial" pitchFamily="34" charset="-120"/>
              </a:rPr>
              <a:t>INFO</a:t>
            </a:r>
            <a:r>
              <a:rPr lang="en-US" sz="900" dirty="0">
                <a:solidFill>
                  <a:srgbClr val="FFFFFF"/>
                </a:solidFill>
                <a:latin typeface="Arial" pitchFamily="34" charset="0"/>
                <a:ea typeface="Arial" pitchFamily="34" charset="-122"/>
                <a:cs typeface="Arial" pitchFamily="34" charset="-120"/>
              </a:rPr>
              <a:t> Transforming data with age groups</a:t>
            </a:r>
            <a:endParaRPr lang="en-US" sz="900" dirty="0"/>
          </a:p>
        </p:txBody>
      </p:sp>
      <p:sp>
        <p:nvSpPr>
          <p:cNvPr id="59" name="Text 23"/>
          <p:cNvSpPr/>
          <p:nvPr/>
        </p:nvSpPr>
        <p:spPr>
          <a:xfrm>
            <a:off x="8420100" y="3067050"/>
            <a:ext cx="3840480" cy="209550"/>
          </a:xfrm>
          <a:prstGeom prst="rect">
            <a:avLst/>
          </a:prstGeom>
          <a:noFill/>
          <a:ln/>
        </p:spPr>
        <p:txBody>
          <a:bodyPr vert="horz" wrap="square" lIns="0" tIns="0" rIns="0" bIns="0" rtlCol="0" anchor="t"/>
          <a:lstStyle/>
          <a:p>
            <a:pPr marL="0" indent="0">
              <a:lnSpc>
                <a:spcPts val="1350"/>
              </a:lnSpc>
              <a:buNone/>
            </a:pPr>
            <a:r>
              <a:rPr lang="en-US" sz="900" b="1" dirty="0">
                <a:solidFill>
                  <a:srgbClr val="FFFFFF"/>
                </a:solidFill>
                <a:latin typeface="Arial" pitchFamily="34" charset="0"/>
                <a:ea typeface="Arial" pitchFamily="34" charset="-122"/>
                <a:cs typeface="Arial" pitchFamily="34" charset="-120"/>
              </a:rPr>
              <a:t>INFO</a:t>
            </a:r>
            <a:r>
              <a:rPr lang="en-US" sz="900" dirty="0">
                <a:solidFill>
                  <a:srgbClr val="FFFFFF"/>
                </a:solidFill>
                <a:latin typeface="Arial" pitchFamily="34" charset="0"/>
                <a:ea typeface="Arial" pitchFamily="34" charset="-122"/>
                <a:cs typeface="Arial" pitchFamily="34" charset="-120"/>
              </a:rPr>
              <a:t> Grouping data by age group</a:t>
            </a:r>
            <a:endParaRPr lang="en-US" sz="900" dirty="0"/>
          </a:p>
        </p:txBody>
      </p:sp>
      <p:sp>
        <p:nvSpPr>
          <p:cNvPr id="60" name="Text 24"/>
          <p:cNvSpPr/>
          <p:nvPr/>
        </p:nvSpPr>
        <p:spPr>
          <a:xfrm>
            <a:off x="8420100" y="3276600"/>
            <a:ext cx="3840480" cy="209550"/>
          </a:xfrm>
          <a:prstGeom prst="rect">
            <a:avLst/>
          </a:prstGeom>
          <a:noFill/>
          <a:ln/>
        </p:spPr>
        <p:txBody>
          <a:bodyPr vert="horz" wrap="square" lIns="0" tIns="0" rIns="0" bIns="0" rtlCol="0" anchor="t"/>
          <a:lstStyle/>
          <a:p>
            <a:pPr marL="0" indent="0">
              <a:lnSpc>
                <a:spcPts val="1350"/>
              </a:lnSpc>
              <a:buNone/>
            </a:pPr>
            <a:r>
              <a:rPr lang="en-US" sz="900" b="1" dirty="0">
                <a:solidFill>
                  <a:srgbClr val="FFFFFF"/>
                </a:solidFill>
                <a:latin typeface="Arial" pitchFamily="34" charset="0"/>
                <a:ea typeface="Arial" pitchFamily="34" charset="-122"/>
                <a:cs typeface="Arial" pitchFamily="34" charset="-120"/>
              </a:rPr>
              <a:t>INFO</a:t>
            </a:r>
            <a:r>
              <a:rPr lang="en-US" sz="900" dirty="0">
                <a:solidFill>
                  <a:srgbClr val="FFFFFF"/>
                </a:solidFill>
                <a:latin typeface="Arial" pitchFamily="34" charset="0"/>
                <a:ea typeface="Arial" pitchFamily="34" charset="-122"/>
                <a:cs typeface="Arial" pitchFamily="34" charset="-120"/>
              </a:rPr>
              <a:t> Saving transformed data to CSV</a:t>
            </a:r>
            <a:endParaRPr lang="en-US" sz="900" dirty="0"/>
          </a:p>
        </p:txBody>
      </p:sp>
      <p:sp>
        <p:nvSpPr>
          <p:cNvPr id="61" name="Text 25"/>
          <p:cNvSpPr/>
          <p:nvPr/>
        </p:nvSpPr>
        <p:spPr>
          <a:xfrm>
            <a:off x="8420100" y="3486150"/>
            <a:ext cx="3200400" cy="381000"/>
          </a:xfrm>
          <a:prstGeom prst="rect">
            <a:avLst/>
          </a:prstGeom>
          <a:noFill/>
          <a:ln/>
        </p:spPr>
        <p:txBody>
          <a:bodyPr vert="horz" wrap="square" lIns="0" tIns="0" rIns="0" bIns="0" rtlCol="0" anchor="t"/>
          <a:lstStyle/>
          <a:p>
            <a:pPr marL="0" indent="0">
              <a:lnSpc>
                <a:spcPts val="1350"/>
              </a:lnSpc>
              <a:buNone/>
            </a:pPr>
            <a:r>
              <a:rPr lang="en-US" sz="900" b="1" dirty="0">
                <a:solidFill>
                  <a:srgbClr val="FFFFFF"/>
                </a:solidFill>
                <a:latin typeface="Arial" pitchFamily="34" charset="0"/>
                <a:ea typeface="Arial" pitchFamily="34" charset="-122"/>
                <a:cs typeface="Arial" pitchFamily="34" charset="-120"/>
              </a:rPr>
              <a:t>INFO</a:t>
            </a:r>
            <a:r>
              <a:rPr lang="en-US" sz="900" dirty="0">
                <a:solidFill>
                  <a:srgbClr val="FFFFFF"/>
                </a:solidFill>
                <a:latin typeface="Arial" pitchFamily="34" charset="0"/>
                <a:ea typeface="Arial" pitchFamily="34" charset="-122"/>
                <a:cs typeface="Arial" pitchFamily="34" charset="-120"/>
              </a:rPr>
              <a:t> Asset `transformed_report` materialized successfully</a:t>
            </a:r>
            <a:endParaRPr lang="en-US" sz="900" dirty="0"/>
          </a:p>
        </p:txBody>
      </p:sp>
      <p:sp>
        <p:nvSpPr>
          <p:cNvPr id="62" name="Text 26"/>
          <p:cNvSpPr/>
          <p:nvPr/>
        </p:nvSpPr>
        <p:spPr>
          <a:xfrm>
            <a:off x="8267700" y="5372100"/>
            <a:ext cx="342900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Section des logs de Dagit, illustrant les messages structurés qui facilitent le débogage et la surveillance des pipelines de données.</a:t>
            </a:r>
            <a:endParaRPr lang="en-US" sz="1050" dirty="0"/>
          </a:p>
        </p:txBody>
      </p:sp>
      <p:sp>
        <p:nvSpPr>
          <p:cNvPr id="63" name="Text 27"/>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64" name="Text 28"/>
          <p:cNvSpPr/>
          <p:nvPr/>
        </p:nvSpPr>
        <p:spPr>
          <a:xfrm>
            <a:off x="11360944" y="6286500"/>
            <a:ext cx="54006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9</a:t>
            </a:r>
            <a:endParaRPr lang="en-US" sz="1050" dirty="0"/>
          </a:p>
        </p:txBody>
      </p:sp>
      <p:pic>
        <p:nvPicPr>
          <p:cNvPr id="68" name="Image 67">
            <a:extLst>
              <a:ext uri="{FF2B5EF4-FFF2-40B4-BE49-F238E27FC236}">
                <a16:creationId xmlns:a16="http://schemas.microsoft.com/office/drawing/2014/main" id="{51569AD3-5B47-E90B-7BB3-086CF1BC04E3}"/>
              </a:ext>
            </a:extLst>
          </p:cNvPr>
          <p:cNvPicPr>
            <a:picLocks noChangeAspect="1"/>
          </p:cNvPicPr>
          <p:nvPr/>
        </p:nvPicPr>
        <p:blipFill>
          <a:blip r:embed="rId32"/>
          <a:stretch>
            <a:fillRect/>
          </a:stretch>
        </p:blipFill>
        <p:spPr>
          <a:xfrm>
            <a:off x="8217173" y="1485900"/>
            <a:ext cx="3530054" cy="4419600"/>
          </a:xfrm>
          <a:prstGeom prst="rect">
            <a:avLst/>
          </a:prstGeom>
        </p:spPr>
      </p:pic>
      <p:pic>
        <p:nvPicPr>
          <p:cNvPr id="70" name="Image 69">
            <a:extLst>
              <a:ext uri="{FF2B5EF4-FFF2-40B4-BE49-F238E27FC236}">
                <a16:creationId xmlns:a16="http://schemas.microsoft.com/office/drawing/2014/main" id="{A7738B6F-7DF7-341A-8AD6-256858BB256B}"/>
              </a:ext>
            </a:extLst>
          </p:cNvPr>
          <p:cNvPicPr>
            <a:picLocks noChangeAspect="1"/>
          </p:cNvPicPr>
          <p:nvPr/>
        </p:nvPicPr>
        <p:blipFill>
          <a:blip r:embed="rId33"/>
          <a:stretch>
            <a:fillRect/>
          </a:stretch>
        </p:blipFill>
        <p:spPr>
          <a:xfrm>
            <a:off x="394807" y="1524000"/>
            <a:ext cx="3736662" cy="4475128"/>
          </a:xfrm>
          <a:prstGeom prst="rect">
            <a:avLst/>
          </a:prstGeom>
        </p:spPr>
      </p:pic>
      <p:pic>
        <p:nvPicPr>
          <p:cNvPr id="72" name="Image 71">
            <a:extLst>
              <a:ext uri="{FF2B5EF4-FFF2-40B4-BE49-F238E27FC236}">
                <a16:creationId xmlns:a16="http://schemas.microsoft.com/office/drawing/2014/main" id="{990AE2C9-F7EF-92FE-0597-CC4247379659}"/>
              </a:ext>
            </a:extLst>
          </p:cNvPr>
          <p:cNvPicPr>
            <a:picLocks noChangeAspect="1"/>
          </p:cNvPicPr>
          <p:nvPr/>
        </p:nvPicPr>
        <p:blipFill>
          <a:blip r:embed="rId34"/>
          <a:stretch>
            <a:fillRect/>
          </a:stretch>
        </p:blipFill>
        <p:spPr>
          <a:xfrm>
            <a:off x="4377363" y="1448264"/>
            <a:ext cx="3206472" cy="44953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381000" y="1181100"/>
            <a:ext cx="3657600" cy="4876800"/>
          </a:xfrm>
          <a:prstGeom prst="rect">
            <a:avLst/>
          </a:prstGeom>
        </p:spPr>
      </p:pic>
      <p:pic>
        <p:nvPicPr>
          <p:cNvPr id="5" name="Image 3" descr="preencoded.png"/>
          <p:cNvPicPr>
            <a:picLocks noChangeAspect="1"/>
          </p:cNvPicPr>
          <p:nvPr/>
        </p:nvPicPr>
        <p:blipFill>
          <a:blip r:embed="rId6"/>
          <a:stretch>
            <a:fillRect/>
          </a:stretch>
        </p:blipFill>
        <p:spPr>
          <a:xfrm>
            <a:off x="609600" y="1409700"/>
            <a:ext cx="485477" cy="571500"/>
          </a:xfrm>
          <a:prstGeom prst="rect">
            <a:avLst/>
          </a:prstGeom>
        </p:spPr>
      </p:pic>
      <p:pic>
        <p:nvPicPr>
          <p:cNvPr id="6" name="Image 4" descr="preencoded.png"/>
          <p:cNvPicPr>
            <a:picLocks noChangeAspect="1"/>
          </p:cNvPicPr>
          <p:nvPr/>
        </p:nvPicPr>
        <p:blipFill>
          <a:blip r:embed="rId7"/>
          <a:stretch>
            <a:fillRect/>
          </a:stretch>
        </p:blipFill>
        <p:spPr>
          <a:xfrm>
            <a:off x="752326" y="1543050"/>
            <a:ext cx="200025" cy="304800"/>
          </a:xfrm>
          <a:prstGeom prst="rect">
            <a:avLst/>
          </a:prstGeom>
        </p:spPr>
      </p:pic>
      <p:pic>
        <p:nvPicPr>
          <p:cNvPr id="7" name="Image 5" descr="preencoded.png"/>
          <p:cNvPicPr>
            <a:picLocks noChangeAspect="1"/>
          </p:cNvPicPr>
          <p:nvPr/>
        </p:nvPicPr>
        <p:blipFill>
          <a:blip r:embed="rId8"/>
          <a:stretch>
            <a:fillRect/>
          </a:stretch>
        </p:blipFill>
        <p:spPr>
          <a:xfrm>
            <a:off x="1600200" y="2133600"/>
            <a:ext cx="1219200" cy="628650"/>
          </a:xfrm>
          <a:prstGeom prst="rect">
            <a:avLst/>
          </a:prstGeom>
        </p:spPr>
      </p:pic>
      <p:pic>
        <p:nvPicPr>
          <p:cNvPr id="8" name="Image 6" descr="preencoded.png"/>
          <p:cNvPicPr>
            <a:picLocks noChangeAspect="1"/>
          </p:cNvPicPr>
          <p:nvPr/>
        </p:nvPicPr>
        <p:blipFill>
          <a:blip r:embed="rId5"/>
          <a:stretch>
            <a:fillRect/>
          </a:stretch>
        </p:blipFill>
        <p:spPr>
          <a:xfrm>
            <a:off x="4267200" y="1181100"/>
            <a:ext cx="3657600" cy="4876800"/>
          </a:xfrm>
          <a:prstGeom prst="rect">
            <a:avLst/>
          </a:prstGeom>
        </p:spPr>
      </p:pic>
      <p:pic>
        <p:nvPicPr>
          <p:cNvPr id="9" name="Image 7" descr="preencoded.png"/>
          <p:cNvPicPr>
            <a:picLocks noChangeAspect="1"/>
          </p:cNvPicPr>
          <p:nvPr/>
        </p:nvPicPr>
        <p:blipFill>
          <a:blip r:embed="rId9"/>
          <a:stretch>
            <a:fillRect/>
          </a:stretch>
        </p:blipFill>
        <p:spPr>
          <a:xfrm>
            <a:off x="4495800" y="1409700"/>
            <a:ext cx="571500" cy="571500"/>
          </a:xfrm>
          <a:prstGeom prst="rect">
            <a:avLst/>
          </a:prstGeom>
        </p:spPr>
      </p:pic>
      <p:pic>
        <p:nvPicPr>
          <p:cNvPr id="10" name="Image 8" descr="preencoded.png"/>
          <p:cNvPicPr>
            <a:picLocks noChangeAspect="1"/>
          </p:cNvPicPr>
          <p:nvPr/>
        </p:nvPicPr>
        <p:blipFill>
          <a:blip r:embed="rId10"/>
          <a:stretch>
            <a:fillRect/>
          </a:stretch>
        </p:blipFill>
        <p:spPr>
          <a:xfrm>
            <a:off x="4638675" y="1543050"/>
            <a:ext cx="285750" cy="304800"/>
          </a:xfrm>
          <a:prstGeom prst="rect">
            <a:avLst/>
          </a:prstGeom>
        </p:spPr>
      </p:pic>
      <p:pic>
        <p:nvPicPr>
          <p:cNvPr id="11" name="Image 9" descr="preencoded.png"/>
          <p:cNvPicPr>
            <a:picLocks noChangeAspect="1"/>
          </p:cNvPicPr>
          <p:nvPr/>
        </p:nvPicPr>
        <p:blipFill>
          <a:blip r:embed="rId11"/>
          <a:stretch>
            <a:fillRect/>
          </a:stretch>
        </p:blipFill>
        <p:spPr>
          <a:xfrm>
            <a:off x="5791200" y="2133600"/>
            <a:ext cx="609600" cy="609600"/>
          </a:xfrm>
          <a:prstGeom prst="rect">
            <a:avLst/>
          </a:prstGeom>
        </p:spPr>
      </p:pic>
      <p:pic>
        <p:nvPicPr>
          <p:cNvPr id="12" name="Image 10" descr="preencoded.png"/>
          <p:cNvPicPr>
            <a:picLocks noChangeAspect="1"/>
          </p:cNvPicPr>
          <p:nvPr/>
        </p:nvPicPr>
        <p:blipFill>
          <a:blip r:embed="rId12"/>
          <a:stretch>
            <a:fillRect/>
          </a:stretch>
        </p:blipFill>
        <p:spPr>
          <a:xfrm>
            <a:off x="5972175" y="2266950"/>
            <a:ext cx="247650" cy="342900"/>
          </a:xfrm>
          <a:prstGeom prst="rect">
            <a:avLst/>
          </a:prstGeom>
        </p:spPr>
      </p:pic>
      <p:pic>
        <p:nvPicPr>
          <p:cNvPr id="13" name="Image 11" descr="preencoded.png"/>
          <p:cNvPicPr>
            <a:picLocks noChangeAspect="1"/>
          </p:cNvPicPr>
          <p:nvPr/>
        </p:nvPicPr>
        <p:blipFill>
          <a:blip r:embed="rId5"/>
          <a:stretch>
            <a:fillRect/>
          </a:stretch>
        </p:blipFill>
        <p:spPr>
          <a:xfrm>
            <a:off x="8153400" y="1181100"/>
            <a:ext cx="3657600" cy="4876800"/>
          </a:xfrm>
          <a:prstGeom prst="rect">
            <a:avLst/>
          </a:prstGeom>
        </p:spPr>
      </p:pic>
      <p:pic>
        <p:nvPicPr>
          <p:cNvPr id="14" name="Image 12" descr="preencoded.png"/>
          <p:cNvPicPr>
            <a:picLocks noChangeAspect="1"/>
          </p:cNvPicPr>
          <p:nvPr/>
        </p:nvPicPr>
        <p:blipFill>
          <a:blip r:embed="rId13"/>
          <a:stretch>
            <a:fillRect/>
          </a:stretch>
        </p:blipFill>
        <p:spPr>
          <a:xfrm>
            <a:off x="8382000" y="1409700"/>
            <a:ext cx="493365" cy="571500"/>
          </a:xfrm>
          <a:prstGeom prst="rect">
            <a:avLst/>
          </a:prstGeom>
        </p:spPr>
      </p:pic>
      <p:pic>
        <p:nvPicPr>
          <p:cNvPr id="15" name="Image 13" descr="preencoded.png"/>
          <p:cNvPicPr>
            <a:picLocks noChangeAspect="1"/>
          </p:cNvPicPr>
          <p:nvPr/>
        </p:nvPicPr>
        <p:blipFill>
          <a:blip r:embed="rId14"/>
          <a:stretch>
            <a:fillRect/>
          </a:stretch>
        </p:blipFill>
        <p:spPr>
          <a:xfrm>
            <a:off x="8514308" y="1543050"/>
            <a:ext cx="228600" cy="304800"/>
          </a:xfrm>
          <a:prstGeom prst="rect">
            <a:avLst/>
          </a:prstGeom>
        </p:spPr>
      </p:pic>
      <p:pic>
        <p:nvPicPr>
          <p:cNvPr id="16" name="Image 14" descr="preencoded.png"/>
          <p:cNvPicPr>
            <a:picLocks noChangeAspect="1"/>
          </p:cNvPicPr>
          <p:nvPr/>
        </p:nvPicPr>
        <p:blipFill>
          <a:blip r:embed="rId15"/>
          <a:stretch>
            <a:fillRect/>
          </a:stretch>
        </p:blipFill>
        <p:spPr>
          <a:xfrm>
            <a:off x="9677400" y="2133600"/>
            <a:ext cx="609600" cy="609600"/>
          </a:xfrm>
          <a:prstGeom prst="rect">
            <a:avLst/>
          </a:prstGeom>
        </p:spPr>
      </p:pic>
      <p:pic>
        <p:nvPicPr>
          <p:cNvPr id="17" name="Image 15" descr="preencoded.png"/>
          <p:cNvPicPr>
            <a:picLocks noChangeAspect="1"/>
          </p:cNvPicPr>
          <p:nvPr/>
        </p:nvPicPr>
        <p:blipFill>
          <a:blip r:embed="rId16"/>
          <a:stretch>
            <a:fillRect/>
          </a:stretch>
        </p:blipFill>
        <p:spPr>
          <a:xfrm>
            <a:off x="9801225" y="2266950"/>
            <a:ext cx="361950" cy="342900"/>
          </a:xfrm>
          <a:prstGeom prst="rect">
            <a:avLst/>
          </a:prstGeom>
        </p:spPr>
      </p:pic>
      <p:sp>
        <p:nvSpPr>
          <p:cNvPr id="18"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Cas d'usage Big Data</a:t>
            </a:r>
            <a:endParaRPr lang="en-US" sz="2700" dirty="0"/>
          </a:p>
        </p:txBody>
      </p:sp>
      <p:sp>
        <p:nvSpPr>
          <p:cNvPr id="19" name="Text 1"/>
          <p:cNvSpPr/>
          <p:nvPr/>
        </p:nvSpPr>
        <p:spPr>
          <a:xfrm>
            <a:off x="1247477" y="1428750"/>
            <a:ext cx="2562523"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Orchestration de jobs Spark</a:t>
            </a:r>
            <a:endParaRPr lang="en-US" sz="1500" dirty="0"/>
          </a:p>
        </p:txBody>
      </p:sp>
      <p:sp>
        <p:nvSpPr>
          <p:cNvPr id="20" name="Text 2"/>
          <p:cNvSpPr/>
          <p:nvPr/>
        </p:nvSpPr>
        <p:spPr>
          <a:xfrm>
            <a:off x="609600" y="4686300"/>
            <a:ext cx="32004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Dagster peut orchestrer des traitements de données massives exécutés sur Apache Spark, gérant les dépendances, surveillant les exécutions et visualisant le lignage des données produites.</a:t>
            </a:r>
            <a:endParaRPr lang="en-US" sz="1200" dirty="0"/>
          </a:p>
        </p:txBody>
      </p:sp>
      <p:sp>
        <p:nvSpPr>
          <p:cNvPr id="21" name="Text 3"/>
          <p:cNvSpPr/>
          <p:nvPr/>
        </p:nvSpPr>
        <p:spPr>
          <a:xfrm>
            <a:off x="5219700" y="1562100"/>
            <a:ext cx="2723198"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Intégration avec DBT</a:t>
            </a:r>
            <a:endParaRPr lang="en-US" sz="1500" dirty="0"/>
          </a:p>
        </p:txBody>
      </p:sp>
      <p:sp>
        <p:nvSpPr>
          <p:cNvPr id="22" name="Text 4"/>
          <p:cNvSpPr/>
          <p:nvPr/>
        </p:nvSpPr>
        <p:spPr>
          <a:xfrm>
            <a:off x="4495800" y="4457700"/>
            <a:ext cx="3200400" cy="1371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Dagster s'intègre parfaitement avec dbt (data build tool) pour la transformation de données, en modélisant les modèles dbt comme des "assets" et en assurant une gestion cohérente du cycle de vie des données.</a:t>
            </a:r>
            <a:endParaRPr lang="en-US" sz="1200" dirty="0"/>
          </a:p>
        </p:txBody>
      </p:sp>
      <p:sp>
        <p:nvSpPr>
          <p:cNvPr id="23" name="Text 5"/>
          <p:cNvSpPr/>
          <p:nvPr/>
        </p:nvSpPr>
        <p:spPr>
          <a:xfrm>
            <a:off x="9027765" y="1428750"/>
            <a:ext cx="2554635"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Préparation de données ML</a:t>
            </a:r>
            <a:endParaRPr lang="en-US" sz="1500" dirty="0"/>
          </a:p>
        </p:txBody>
      </p:sp>
      <p:sp>
        <p:nvSpPr>
          <p:cNvPr id="24" name="Text 6"/>
          <p:cNvSpPr/>
          <p:nvPr/>
        </p:nvSpPr>
        <p:spPr>
          <a:xfrm>
            <a:off x="8382000" y="4457700"/>
            <a:ext cx="3200400" cy="1371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Dagster facilite la création de pipelines de préparation de données pour les modèles de Machine Learning, en gérant l'extraction, la transformation et le chargement des données nécessaires à l'entraînement et à l'inférence.</a:t>
            </a:r>
            <a:endParaRPr lang="en-US" sz="1200" dirty="0"/>
          </a:p>
        </p:txBody>
      </p:sp>
      <p:sp>
        <p:nvSpPr>
          <p:cNvPr id="25" name="Text 7"/>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26" name="Text 8"/>
          <p:cNvSpPr/>
          <p:nvPr/>
        </p:nvSpPr>
        <p:spPr>
          <a:xfrm>
            <a:off x="11275963" y="6286500"/>
            <a:ext cx="642045"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381000" y="1790700"/>
            <a:ext cx="11430000" cy="457200"/>
          </a:xfrm>
          <a:prstGeom prst="rect">
            <a:avLst/>
          </a:prstGeom>
        </p:spPr>
      </p:pic>
      <p:pic>
        <p:nvPicPr>
          <p:cNvPr id="5" name="Image 3" descr="preencoded.png"/>
          <p:cNvPicPr>
            <a:picLocks noChangeAspect="1"/>
          </p:cNvPicPr>
          <p:nvPr/>
        </p:nvPicPr>
        <p:blipFill>
          <a:blip r:embed="rId6"/>
          <a:stretch>
            <a:fillRect/>
          </a:stretch>
        </p:blipFill>
        <p:spPr>
          <a:xfrm>
            <a:off x="533400" y="1943100"/>
            <a:ext cx="152400" cy="152400"/>
          </a:xfrm>
          <a:prstGeom prst="rect">
            <a:avLst/>
          </a:prstGeom>
        </p:spPr>
      </p:pic>
      <p:pic>
        <p:nvPicPr>
          <p:cNvPr id="6" name="Image 4" descr="preencoded.png"/>
          <p:cNvPicPr>
            <a:picLocks noChangeAspect="1"/>
          </p:cNvPicPr>
          <p:nvPr/>
        </p:nvPicPr>
        <p:blipFill>
          <a:blip r:embed="rId7"/>
          <a:stretch>
            <a:fillRect/>
          </a:stretch>
        </p:blipFill>
        <p:spPr>
          <a:xfrm>
            <a:off x="6248400" y="1943100"/>
            <a:ext cx="152400" cy="152400"/>
          </a:xfrm>
          <a:prstGeom prst="rect">
            <a:avLst/>
          </a:prstGeom>
        </p:spPr>
      </p:pic>
      <p:pic>
        <p:nvPicPr>
          <p:cNvPr id="7" name="Image 5" descr="preencoded.png"/>
          <p:cNvPicPr>
            <a:picLocks noChangeAspect="1"/>
          </p:cNvPicPr>
          <p:nvPr/>
        </p:nvPicPr>
        <p:blipFill>
          <a:blip r:embed="rId8"/>
          <a:stretch>
            <a:fillRect/>
          </a:stretch>
        </p:blipFill>
        <p:spPr>
          <a:xfrm>
            <a:off x="381000" y="2247900"/>
            <a:ext cx="11430000" cy="838200"/>
          </a:xfrm>
          <a:prstGeom prst="rect">
            <a:avLst/>
          </a:prstGeom>
        </p:spPr>
      </p:pic>
      <p:pic>
        <p:nvPicPr>
          <p:cNvPr id="8" name="Image 6" descr="preencoded.png"/>
          <p:cNvPicPr>
            <a:picLocks noChangeAspect="1"/>
          </p:cNvPicPr>
          <p:nvPr/>
        </p:nvPicPr>
        <p:blipFill>
          <a:blip r:embed="rId9"/>
          <a:stretch>
            <a:fillRect/>
          </a:stretch>
        </p:blipFill>
        <p:spPr>
          <a:xfrm>
            <a:off x="533400" y="2400300"/>
            <a:ext cx="152400" cy="152400"/>
          </a:xfrm>
          <a:prstGeom prst="rect">
            <a:avLst/>
          </a:prstGeom>
        </p:spPr>
      </p:pic>
      <p:pic>
        <p:nvPicPr>
          <p:cNvPr id="9" name="Image 7" descr="preencoded.png"/>
          <p:cNvPicPr>
            <a:picLocks noChangeAspect="1"/>
          </p:cNvPicPr>
          <p:nvPr/>
        </p:nvPicPr>
        <p:blipFill>
          <a:blip r:embed="rId10"/>
          <a:stretch>
            <a:fillRect/>
          </a:stretch>
        </p:blipFill>
        <p:spPr>
          <a:xfrm>
            <a:off x="6248400" y="24003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381000" y="3086100"/>
            <a:ext cx="11430000" cy="838200"/>
          </a:xfrm>
          <a:prstGeom prst="rect">
            <a:avLst/>
          </a:prstGeom>
        </p:spPr>
      </p:pic>
      <p:pic>
        <p:nvPicPr>
          <p:cNvPr id="11" name="Image 9" descr="preencoded.png"/>
          <p:cNvPicPr>
            <a:picLocks noChangeAspect="1"/>
          </p:cNvPicPr>
          <p:nvPr/>
        </p:nvPicPr>
        <p:blipFill>
          <a:blip r:embed="rId11"/>
          <a:stretch>
            <a:fillRect/>
          </a:stretch>
        </p:blipFill>
        <p:spPr>
          <a:xfrm>
            <a:off x="533400" y="3238500"/>
            <a:ext cx="171450" cy="152400"/>
          </a:xfrm>
          <a:prstGeom prst="rect">
            <a:avLst/>
          </a:prstGeom>
        </p:spPr>
      </p:pic>
      <p:pic>
        <p:nvPicPr>
          <p:cNvPr id="12" name="Image 10" descr="preencoded.png"/>
          <p:cNvPicPr>
            <a:picLocks noChangeAspect="1"/>
          </p:cNvPicPr>
          <p:nvPr/>
        </p:nvPicPr>
        <p:blipFill>
          <a:blip r:embed="rId12"/>
          <a:stretch>
            <a:fillRect/>
          </a:stretch>
        </p:blipFill>
        <p:spPr>
          <a:xfrm>
            <a:off x="6248400" y="3238500"/>
            <a:ext cx="152400" cy="152400"/>
          </a:xfrm>
          <a:prstGeom prst="rect">
            <a:avLst/>
          </a:prstGeom>
        </p:spPr>
      </p:pic>
      <p:pic>
        <p:nvPicPr>
          <p:cNvPr id="13" name="Image 11" descr="preencoded.png"/>
          <p:cNvPicPr>
            <a:picLocks noChangeAspect="1"/>
          </p:cNvPicPr>
          <p:nvPr/>
        </p:nvPicPr>
        <p:blipFill>
          <a:blip r:embed="rId8"/>
          <a:stretch>
            <a:fillRect/>
          </a:stretch>
        </p:blipFill>
        <p:spPr>
          <a:xfrm>
            <a:off x="381000" y="3924300"/>
            <a:ext cx="11430000" cy="838200"/>
          </a:xfrm>
          <a:prstGeom prst="rect">
            <a:avLst/>
          </a:prstGeom>
        </p:spPr>
      </p:pic>
      <p:pic>
        <p:nvPicPr>
          <p:cNvPr id="14" name="Image 12" descr="preencoded.png"/>
          <p:cNvPicPr>
            <a:picLocks noChangeAspect="1"/>
          </p:cNvPicPr>
          <p:nvPr/>
        </p:nvPicPr>
        <p:blipFill>
          <a:blip r:embed="rId13"/>
          <a:stretch>
            <a:fillRect/>
          </a:stretch>
        </p:blipFill>
        <p:spPr>
          <a:xfrm>
            <a:off x="533400" y="4076700"/>
            <a:ext cx="171450" cy="152400"/>
          </a:xfrm>
          <a:prstGeom prst="rect">
            <a:avLst/>
          </a:prstGeom>
        </p:spPr>
      </p:pic>
      <p:pic>
        <p:nvPicPr>
          <p:cNvPr id="15" name="Image 13" descr="preencoded.png"/>
          <p:cNvPicPr>
            <a:picLocks noChangeAspect="1"/>
          </p:cNvPicPr>
          <p:nvPr/>
        </p:nvPicPr>
        <p:blipFill>
          <a:blip r:embed="rId14"/>
          <a:stretch>
            <a:fillRect/>
          </a:stretch>
        </p:blipFill>
        <p:spPr>
          <a:xfrm>
            <a:off x="6248400" y="4076700"/>
            <a:ext cx="152400" cy="152400"/>
          </a:xfrm>
          <a:prstGeom prst="rect">
            <a:avLst/>
          </a:prstGeom>
        </p:spPr>
      </p:pic>
      <p:pic>
        <p:nvPicPr>
          <p:cNvPr id="16" name="Image 14" descr="preencoded.png"/>
          <p:cNvPicPr>
            <a:picLocks noChangeAspect="1"/>
          </p:cNvPicPr>
          <p:nvPr/>
        </p:nvPicPr>
        <p:blipFill>
          <a:blip r:embed="rId8"/>
          <a:stretch>
            <a:fillRect/>
          </a:stretch>
        </p:blipFill>
        <p:spPr>
          <a:xfrm>
            <a:off x="381000" y="4762500"/>
            <a:ext cx="11430000" cy="838200"/>
          </a:xfrm>
          <a:prstGeom prst="rect">
            <a:avLst/>
          </a:prstGeom>
        </p:spPr>
      </p:pic>
      <p:pic>
        <p:nvPicPr>
          <p:cNvPr id="17" name="Image 15" descr="preencoded.png"/>
          <p:cNvPicPr>
            <a:picLocks noChangeAspect="1"/>
          </p:cNvPicPr>
          <p:nvPr/>
        </p:nvPicPr>
        <p:blipFill>
          <a:blip r:embed="rId15"/>
          <a:stretch>
            <a:fillRect/>
          </a:stretch>
        </p:blipFill>
        <p:spPr>
          <a:xfrm>
            <a:off x="533400" y="4914900"/>
            <a:ext cx="114300" cy="152400"/>
          </a:xfrm>
          <a:prstGeom prst="rect">
            <a:avLst/>
          </a:prstGeom>
        </p:spPr>
      </p:pic>
      <p:pic>
        <p:nvPicPr>
          <p:cNvPr id="18" name="Image 16" descr="preencoded.png"/>
          <p:cNvPicPr>
            <a:picLocks noChangeAspect="1"/>
          </p:cNvPicPr>
          <p:nvPr/>
        </p:nvPicPr>
        <p:blipFill>
          <a:blip r:embed="rId16"/>
          <a:stretch>
            <a:fillRect/>
          </a:stretch>
        </p:blipFill>
        <p:spPr>
          <a:xfrm>
            <a:off x="6248400" y="4914900"/>
            <a:ext cx="190500" cy="152400"/>
          </a:xfrm>
          <a:prstGeom prst="rect">
            <a:avLst/>
          </a:prstGeom>
        </p:spPr>
      </p:pic>
      <p:sp>
        <p:nvSpPr>
          <p:cNvPr id="19"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Avantages &amp; Limites</a:t>
            </a:r>
            <a:endParaRPr lang="en-US" sz="2700" dirty="0"/>
          </a:p>
        </p:txBody>
      </p:sp>
      <p:sp>
        <p:nvSpPr>
          <p:cNvPr id="20" name="Text 1"/>
          <p:cNvSpPr/>
          <p:nvPr/>
        </p:nvSpPr>
        <p:spPr>
          <a:xfrm>
            <a:off x="381000" y="1104900"/>
            <a:ext cx="114300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Dagster présente des avantages significatifs pour l'orchestration des pipelines Big Data, mais présente également certaines limites par rapport à des outils plus établis.</a:t>
            </a:r>
            <a:endParaRPr lang="en-US" sz="1200" dirty="0"/>
          </a:p>
        </p:txBody>
      </p:sp>
      <p:sp>
        <p:nvSpPr>
          <p:cNvPr id="21" name="Text 2"/>
          <p:cNvSpPr/>
          <p:nvPr/>
        </p:nvSpPr>
        <p:spPr>
          <a:xfrm>
            <a:off x="762000" y="1905000"/>
            <a:ext cx="1082457"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15803D"/>
                </a:solidFill>
                <a:latin typeface="ui-sans-serif" pitchFamily="34" charset="0"/>
                <a:ea typeface="ui-sans-serif" pitchFamily="34" charset="-122"/>
                <a:cs typeface="ui-sans-serif" pitchFamily="34" charset="-120"/>
              </a:rPr>
              <a:t>Avantages</a:t>
            </a:r>
            <a:endParaRPr lang="en-US" sz="1200" dirty="0"/>
          </a:p>
        </p:txBody>
      </p:sp>
      <p:sp>
        <p:nvSpPr>
          <p:cNvPr id="22" name="Text 3"/>
          <p:cNvSpPr/>
          <p:nvPr/>
        </p:nvSpPr>
        <p:spPr>
          <a:xfrm>
            <a:off x="6477000" y="1905000"/>
            <a:ext cx="752773"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B91C1C"/>
                </a:solidFill>
                <a:latin typeface="ui-sans-serif" pitchFamily="34" charset="0"/>
                <a:ea typeface="ui-sans-serif" pitchFamily="34" charset="-122"/>
                <a:cs typeface="ui-sans-serif" pitchFamily="34" charset="-120"/>
              </a:rPr>
              <a:t>Limites</a:t>
            </a:r>
            <a:endParaRPr lang="en-US" sz="1200" dirty="0"/>
          </a:p>
        </p:txBody>
      </p:sp>
      <p:sp>
        <p:nvSpPr>
          <p:cNvPr id="23" name="Text 4"/>
          <p:cNvSpPr/>
          <p:nvPr/>
        </p:nvSpPr>
        <p:spPr>
          <a:xfrm>
            <a:off x="800100" y="2362200"/>
            <a:ext cx="51435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Fiabilité</a:t>
            </a:r>
            <a:endParaRPr lang="en-US" sz="1200" dirty="0"/>
          </a:p>
        </p:txBody>
      </p:sp>
      <p:sp>
        <p:nvSpPr>
          <p:cNvPr id="24" name="Text 5"/>
          <p:cNvSpPr/>
          <p:nvPr/>
        </p:nvSpPr>
        <p:spPr>
          <a:xfrm>
            <a:off x="800100" y="2590800"/>
            <a:ext cx="51435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Mécanismes de gestion des dépendances, de re-tentative automatique en cas d'échec et de gestion des erreurs.</a:t>
            </a:r>
            <a:endParaRPr lang="en-US" sz="1050" dirty="0"/>
          </a:p>
        </p:txBody>
      </p:sp>
      <p:sp>
        <p:nvSpPr>
          <p:cNvPr id="25" name="Text 6"/>
          <p:cNvSpPr/>
          <p:nvPr/>
        </p:nvSpPr>
        <p:spPr>
          <a:xfrm>
            <a:off x="6515100" y="2362200"/>
            <a:ext cx="51435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Complexité initiale</a:t>
            </a:r>
            <a:endParaRPr lang="en-US" sz="1200" dirty="0"/>
          </a:p>
        </p:txBody>
      </p:sp>
      <p:sp>
        <p:nvSpPr>
          <p:cNvPr id="26" name="Text 7"/>
          <p:cNvSpPr/>
          <p:nvPr/>
        </p:nvSpPr>
        <p:spPr>
          <a:xfrm>
            <a:off x="6515100" y="2590800"/>
            <a:ext cx="51435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Apprentissage requis pour configurer correctement les pipelines pour des cas d'usage complexes.</a:t>
            </a:r>
            <a:endParaRPr lang="en-US" sz="1050" dirty="0"/>
          </a:p>
        </p:txBody>
      </p:sp>
      <p:sp>
        <p:nvSpPr>
          <p:cNvPr id="27" name="Text 8"/>
          <p:cNvSpPr/>
          <p:nvPr/>
        </p:nvSpPr>
        <p:spPr>
          <a:xfrm>
            <a:off x="819150" y="3200400"/>
            <a:ext cx="512445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Observabilité</a:t>
            </a:r>
            <a:endParaRPr lang="en-US" sz="1200" dirty="0"/>
          </a:p>
        </p:txBody>
      </p:sp>
      <p:sp>
        <p:nvSpPr>
          <p:cNvPr id="28" name="Text 9"/>
          <p:cNvSpPr/>
          <p:nvPr/>
        </p:nvSpPr>
        <p:spPr>
          <a:xfrm>
            <a:off x="819150" y="3429000"/>
            <a:ext cx="512445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Visibilité en temps réel sur l'état des workflows, journalisation robuste et lignée des assets.</a:t>
            </a:r>
            <a:endParaRPr lang="en-US" sz="1050" dirty="0"/>
          </a:p>
        </p:txBody>
      </p:sp>
      <p:sp>
        <p:nvSpPr>
          <p:cNvPr id="29" name="Text 10"/>
          <p:cNvSpPr/>
          <p:nvPr/>
        </p:nvSpPr>
        <p:spPr>
          <a:xfrm>
            <a:off x="6515100" y="3200400"/>
            <a:ext cx="51435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Temps d'exécution</a:t>
            </a:r>
            <a:endParaRPr lang="en-US" sz="1200" dirty="0"/>
          </a:p>
        </p:txBody>
      </p:sp>
      <p:sp>
        <p:nvSpPr>
          <p:cNvPr id="30" name="Text 11"/>
          <p:cNvSpPr/>
          <p:nvPr/>
        </p:nvSpPr>
        <p:spPr>
          <a:xfrm>
            <a:off x="6515100" y="3429000"/>
            <a:ext cx="51435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Peut augmenter le temps total d'exécution des pipelines par rapport à des solutions plus simples.</a:t>
            </a:r>
            <a:endParaRPr lang="en-US" sz="1050" dirty="0"/>
          </a:p>
        </p:txBody>
      </p:sp>
      <p:sp>
        <p:nvSpPr>
          <p:cNvPr id="31" name="Text 12"/>
          <p:cNvSpPr/>
          <p:nvPr/>
        </p:nvSpPr>
        <p:spPr>
          <a:xfrm>
            <a:off x="819150" y="4038600"/>
            <a:ext cx="512445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Modularité</a:t>
            </a:r>
            <a:endParaRPr lang="en-US" sz="1200" dirty="0"/>
          </a:p>
        </p:txBody>
      </p:sp>
      <p:sp>
        <p:nvSpPr>
          <p:cNvPr id="32" name="Text 13"/>
          <p:cNvSpPr/>
          <p:nvPr/>
        </p:nvSpPr>
        <p:spPr>
          <a:xfrm>
            <a:off x="819150" y="4267200"/>
            <a:ext cx="512445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Architecture modulaire et réutilisable qui accélère le développement et simplifie la maintenance.</a:t>
            </a:r>
            <a:endParaRPr lang="en-US" sz="1050" dirty="0"/>
          </a:p>
        </p:txBody>
      </p:sp>
      <p:sp>
        <p:nvSpPr>
          <p:cNvPr id="33" name="Text 14"/>
          <p:cNvSpPr/>
          <p:nvPr/>
        </p:nvSpPr>
        <p:spPr>
          <a:xfrm>
            <a:off x="6515100" y="4038600"/>
            <a:ext cx="51435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Surcharge de concept</a:t>
            </a:r>
            <a:endParaRPr lang="en-US" sz="1200" dirty="0"/>
          </a:p>
        </p:txBody>
      </p:sp>
      <p:sp>
        <p:nvSpPr>
          <p:cNvPr id="34" name="Text 15"/>
          <p:cNvSpPr/>
          <p:nvPr/>
        </p:nvSpPr>
        <p:spPr>
          <a:xfrm>
            <a:off x="6515100" y="4267200"/>
            <a:ext cx="51435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Les concepts de "assets" et "jobs" peuvent sembler superflus pour des pipelines simples.</a:t>
            </a:r>
            <a:endParaRPr lang="en-US" sz="1050" dirty="0"/>
          </a:p>
        </p:txBody>
      </p:sp>
      <p:sp>
        <p:nvSpPr>
          <p:cNvPr id="35" name="Text 16"/>
          <p:cNvSpPr/>
          <p:nvPr/>
        </p:nvSpPr>
        <p:spPr>
          <a:xfrm>
            <a:off x="762000" y="4876800"/>
            <a:ext cx="5181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Facilité d'intégration</a:t>
            </a:r>
            <a:endParaRPr lang="en-US" sz="1200" dirty="0"/>
          </a:p>
        </p:txBody>
      </p:sp>
      <p:sp>
        <p:nvSpPr>
          <p:cNvPr id="36" name="Text 17"/>
          <p:cNvSpPr/>
          <p:nvPr/>
        </p:nvSpPr>
        <p:spPr>
          <a:xfrm>
            <a:off x="762000" y="5105400"/>
            <a:ext cx="5181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Vaste bibliothèque d'intégrations avec les outils de données les plus populaires et les fournisseurs de cloud.</a:t>
            </a:r>
            <a:endParaRPr lang="en-US" sz="1050" dirty="0"/>
          </a:p>
        </p:txBody>
      </p:sp>
      <p:sp>
        <p:nvSpPr>
          <p:cNvPr id="37" name="Text 18"/>
          <p:cNvSpPr/>
          <p:nvPr/>
        </p:nvSpPr>
        <p:spPr>
          <a:xfrm>
            <a:off x="6553200" y="4876800"/>
            <a:ext cx="51054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Dépendances externes</a:t>
            </a:r>
            <a:endParaRPr lang="en-US" sz="1200" dirty="0"/>
          </a:p>
        </p:txBody>
      </p:sp>
      <p:sp>
        <p:nvSpPr>
          <p:cNvPr id="38" name="Text 19"/>
          <p:cNvSpPr/>
          <p:nvPr/>
        </p:nvSpPr>
        <p:spPr>
          <a:xfrm>
            <a:off x="6553200" y="5105400"/>
            <a:ext cx="51054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Nécessite une gestion proactive des versions pour maintenir la compatibilité avec les outils intégrés.</a:t>
            </a:r>
            <a:endParaRPr lang="en-US" sz="1050" dirty="0"/>
          </a:p>
        </p:txBody>
      </p:sp>
      <p:sp>
        <p:nvSpPr>
          <p:cNvPr id="39" name="Text 20"/>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40" name="Text 21"/>
          <p:cNvSpPr/>
          <p:nvPr/>
        </p:nvSpPr>
        <p:spPr>
          <a:xfrm>
            <a:off x="11275963" y="6286500"/>
            <a:ext cx="642045"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838200"/>
            <a:ext cx="762000" cy="38100"/>
          </a:xfrm>
          <a:prstGeom prst="rect">
            <a:avLst/>
          </a:prstGeom>
        </p:spPr>
      </p:pic>
      <p:pic>
        <p:nvPicPr>
          <p:cNvPr id="4" name="Image 2" descr="preencoded.png"/>
          <p:cNvPicPr>
            <a:picLocks noChangeAspect="1"/>
          </p:cNvPicPr>
          <p:nvPr/>
        </p:nvPicPr>
        <p:blipFill>
          <a:blip r:embed="rId5"/>
          <a:stretch>
            <a:fillRect/>
          </a:stretch>
        </p:blipFill>
        <p:spPr>
          <a:xfrm>
            <a:off x="1219200" y="2933700"/>
            <a:ext cx="2266950" cy="2247900"/>
          </a:xfrm>
          <a:prstGeom prst="rect">
            <a:avLst/>
          </a:prstGeom>
        </p:spPr>
      </p:pic>
      <p:pic>
        <p:nvPicPr>
          <p:cNvPr id="5" name="Image 3" descr="preencoded.png"/>
          <p:cNvPicPr>
            <a:picLocks noChangeAspect="1"/>
          </p:cNvPicPr>
          <p:nvPr/>
        </p:nvPicPr>
        <p:blipFill>
          <a:blip r:embed="rId6"/>
          <a:stretch>
            <a:fillRect/>
          </a:stretch>
        </p:blipFill>
        <p:spPr>
          <a:xfrm>
            <a:off x="2181225" y="3162300"/>
            <a:ext cx="342900" cy="381000"/>
          </a:xfrm>
          <a:prstGeom prst="rect">
            <a:avLst/>
          </a:prstGeom>
        </p:spPr>
      </p:pic>
      <p:pic>
        <p:nvPicPr>
          <p:cNvPr id="6" name="Image 4" descr="preencoded.png"/>
          <p:cNvPicPr>
            <a:picLocks noChangeAspect="1"/>
          </p:cNvPicPr>
          <p:nvPr/>
        </p:nvPicPr>
        <p:blipFill>
          <a:blip r:embed="rId5"/>
          <a:stretch>
            <a:fillRect/>
          </a:stretch>
        </p:blipFill>
        <p:spPr>
          <a:xfrm>
            <a:off x="3714750" y="2933700"/>
            <a:ext cx="2266950" cy="2247900"/>
          </a:xfrm>
          <a:prstGeom prst="rect">
            <a:avLst/>
          </a:prstGeom>
        </p:spPr>
      </p:pic>
      <p:pic>
        <p:nvPicPr>
          <p:cNvPr id="7" name="Image 5" descr="preencoded.png"/>
          <p:cNvPicPr>
            <a:picLocks noChangeAspect="1"/>
          </p:cNvPicPr>
          <p:nvPr/>
        </p:nvPicPr>
        <p:blipFill>
          <a:blip r:embed="rId7"/>
          <a:stretch>
            <a:fillRect/>
          </a:stretch>
        </p:blipFill>
        <p:spPr>
          <a:xfrm>
            <a:off x="4652963" y="3162300"/>
            <a:ext cx="390525" cy="381000"/>
          </a:xfrm>
          <a:prstGeom prst="rect">
            <a:avLst/>
          </a:prstGeom>
        </p:spPr>
      </p:pic>
      <p:pic>
        <p:nvPicPr>
          <p:cNvPr id="8" name="Image 6" descr="preencoded.png"/>
          <p:cNvPicPr>
            <a:picLocks noChangeAspect="1"/>
          </p:cNvPicPr>
          <p:nvPr/>
        </p:nvPicPr>
        <p:blipFill>
          <a:blip r:embed="rId5"/>
          <a:stretch>
            <a:fillRect/>
          </a:stretch>
        </p:blipFill>
        <p:spPr>
          <a:xfrm>
            <a:off x="6210300" y="2933700"/>
            <a:ext cx="2266950" cy="2247900"/>
          </a:xfrm>
          <a:prstGeom prst="rect">
            <a:avLst/>
          </a:prstGeom>
        </p:spPr>
      </p:pic>
      <p:pic>
        <p:nvPicPr>
          <p:cNvPr id="9" name="Image 7" descr="preencoded.png"/>
          <p:cNvPicPr>
            <a:picLocks noChangeAspect="1"/>
          </p:cNvPicPr>
          <p:nvPr/>
        </p:nvPicPr>
        <p:blipFill>
          <a:blip r:embed="rId8"/>
          <a:stretch>
            <a:fillRect/>
          </a:stretch>
        </p:blipFill>
        <p:spPr>
          <a:xfrm>
            <a:off x="7148513" y="3162300"/>
            <a:ext cx="390525" cy="381000"/>
          </a:xfrm>
          <a:prstGeom prst="rect">
            <a:avLst/>
          </a:prstGeom>
        </p:spPr>
      </p:pic>
      <p:pic>
        <p:nvPicPr>
          <p:cNvPr id="10" name="Image 8" descr="preencoded.png"/>
          <p:cNvPicPr>
            <a:picLocks noChangeAspect="1"/>
          </p:cNvPicPr>
          <p:nvPr/>
        </p:nvPicPr>
        <p:blipFill>
          <a:blip r:embed="rId5"/>
          <a:stretch>
            <a:fillRect/>
          </a:stretch>
        </p:blipFill>
        <p:spPr>
          <a:xfrm>
            <a:off x="8705850" y="2933700"/>
            <a:ext cx="2266950" cy="2247900"/>
          </a:xfrm>
          <a:prstGeom prst="rect">
            <a:avLst/>
          </a:prstGeom>
        </p:spPr>
      </p:pic>
      <p:pic>
        <p:nvPicPr>
          <p:cNvPr id="11" name="Image 9" descr="preencoded.png"/>
          <p:cNvPicPr>
            <a:picLocks noChangeAspect="1"/>
          </p:cNvPicPr>
          <p:nvPr/>
        </p:nvPicPr>
        <p:blipFill>
          <a:blip r:embed="rId9"/>
          <a:stretch>
            <a:fillRect/>
          </a:stretch>
        </p:blipFill>
        <p:spPr>
          <a:xfrm>
            <a:off x="9710738" y="3162300"/>
            <a:ext cx="257175" cy="381000"/>
          </a:xfrm>
          <a:prstGeom prst="rect">
            <a:avLst/>
          </a:prstGeom>
        </p:spPr>
      </p:pic>
      <p:sp>
        <p:nvSpPr>
          <p:cNvPr id="12"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Conclusion</a:t>
            </a:r>
            <a:endParaRPr lang="en-US" sz="2700" dirty="0"/>
          </a:p>
        </p:txBody>
      </p:sp>
      <p:sp>
        <p:nvSpPr>
          <p:cNvPr id="13" name="Text 1"/>
          <p:cNvSpPr/>
          <p:nvPr/>
        </p:nvSpPr>
        <p:spPr>
          <a:xfrm>
            <a:off x="381000" y="1447800"/>
            <a:ext cx="11430000" cy="685800"/>
          </a:xfrm>
          <a:prstGeom prst="rect">
            <a:avLst/>
          </a:prstGeom>
          <a:noFill/>
          <a:ln/>
        </p:spPr>
        <p:txBody>
          <a:bodyPr vert="horz" wrap="square" lIns="0" tIns="0" rIns="0" bIns="0" rtlCol="0" anchor="t"/>
          <a:lstStyle/>
          <a:p>
            <a:pPr marL="0" indent="0" algn="ctr">
              <a:lnSpc>
                <a:spcPts val="2700"/>
              </a:lnSpc>
              <a:buNone/>
            </a:pPr>
            <a:r>
              <a:rPr lang="en-US" sz="2250" b="1" dirty="0">
                <a:solidFill>
                  <a:srgbClr val="374151"/>
                </a:solidFill>
                <a:latin typeface="ui-sans-serif" pitchFamily="34" charset="0"/>
                <a:ea typeface="ui-sans-serif" pitchFamily="34" charset="-122"/>
                <a:cs typeface="ui-sans-serif" pitchFamily="34" charset="-120"/>
              </a:rPr>
              <a:t>Dagster est un outil clé pour l'orchestration de pipelines Big Data fiables et automatisés</a:t>
            </a:r>
            <a:endParaRPr lang="en-US" sz="2250" dirty="0"/>
          </a:p>
        </p:txBody>
      </p:sp>
      <p:sp>
        <p:nvSpPr>
          <p:cNvPr id="14" name="Text 2"/>
          <p:cNvSpPr/>
          <p:nvPr/>
        </p:nvSpPr>
        <p:spPr>
          <a:xfrm>
            <a:off x="-762000" y="2286000"/>
            <a:ext cx="13716000" cy="266700"/>
          </a:xfrm>
          <a:prstGeom prst="rect">
            <a:avLst/>
          </a:prstGeom>
          <a:noFill/>
          <a:ln/>
        </p:spPr>
        <p:txBody>
          <a:bodyPr vert="horz" wrap="square" lIns="0" tIns="0" rIns="0" bIns="0" rtlCol="0" anchor="t"/>
          <a:lstStyle/>
          <a:p>
            <a:pPr marL="0" indent="0" algn="ctr">
              <a:lnSpc>
                <a:spcPts val="2100"/>
              </a:lnSpc>
              <a:buNone/>
            </a:pPr>
            <a:r>
              <a:rPr lang="en-US" sz="1500" dirty="0">
                <a:solidFill>
                  <a:srgbClr val="4B5563"/>
                </a:solidFill>
                <a:latin typeface="ui-sans-serif" pitchFamily="34" charset="0"/>
                <a:ea typeface="ui-sans-serif" pitchFamily="34" charset="-122"/>
                <a:cs typeface="ui-sans-serif" pitchFamily="34" charset="-120"/>
              </a:rPr>
              <a:t>Répondant aux exigences des plateformes de données modernes</a:t>
            </a:r>
            <a:endParaRPr lang="en-US" sz="1500" dirty="0"/>
          </a:p>
        </p:txBody>
      </p:sp>
      <p:sp>
        <p:nvSpPr>
          <p:cNvPr id="15" name="Text 3"/>
          <p:cNvSpPr/>
          <p:nvPr/>
        </p:nvSpPr>
        <p:spPr>
          <a:xfrm>
            <a:off x="1826716" y="3695700"/>
            <a:ext cx="1051917"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Fiabilité</a:t>
            </a:r>
            <a:endParaRPr lang="en-US" sz="1500" dirty="0"/>
          </a:p>
        </p:txBody>
      </p:sp>
      <p:sp>
        <p:nvSpPr>
          <p:cNvPr id="16" name="Text 4"/>
          <p:cNvSpPr/>
          <p:nvPr/>
        </p:nvSpPr>
        <p:spPr>
          <a:xfrm>
            <a:off x="1447800" y="4038600"/>
            <a:ext cx="180975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Gestion robuste des dépendances et des erreurs</a:t>
            </a:r>
            <a:endParaRPr lang="en-US" sz="1200" dirty="0"/>
          </a:p>
        </p:txBody>
      </p:sp>
      <p:sp>
        <p:nvSpPr>
          <p:cNvPr id="17" name="Text 5"/>
          <p:cNvSpPr/>
          <p:nvPr/>
        </p:nvSpPr>
        <p:spPr>
          <a:xfrm>
            <a:off x="3984025" y="3695700"/>
            <a:ext cx="1728252"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Observabilité</a:t>
            </a:r>
            <a:endParaRPr lang="en-US" sz="1500" dirty="0"/>
          </a:p>
        </p:txBody>
      </p:sp>
      <p:sp>
        <p:nvSpPr>
          <p:cNvPr id="18" name="Text 6"/>
          <p:cNvSpPr/>
          <p:nvPr/>
        </p:nvSpPr>
        <p:spPr>
          <a:xfrm>
            <a:off x="3943350" y="4038600"/>
            <a:ext cx="180975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Vue d'ensemble intuitive de vos workflows de données</a:t>
            </a:r>
            <a:endParaRPr lang="en-US" sz="1200" dirty="0"/>
          </a:p>
        </p:txBody>
      </p:sp>
      <p:sp>
        <p:nvSpPr>
          <p:cNvPr id="19" name="Text 7"/>
          <p:cNvSpPr/>
          <p:nvPr/>
        </p:nvSpPr>
        <p:spPr>
          <a:xfrm>
            <a:off x="6644223" y="3695700"/>
            <a:ext cx="1399103"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Modularité</a:t>
            </a:r>
            <a:endParaRPr lang="en-US" sz="1500" dirty="0"/>
          </a:p>
        </p:txBody>
      </p:sp>
      <p:sp>
        <p:nvSpPr>
          <p:cNvPr id="20" name="Text 8"/>
          <p:cNvSpPr/>
          <p:nvPr/>
        </p:nvSpPr>
        <p:spPr>
          <a:xfrm>
            <a:off x="6438900" y="4038600"/>
            <a:ext cx="180975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Architecture réutilisable qui accélère le développement</a:t>
            </a:r>
            <a:endParaRPr lang="en-US" sz="1200" dirty="0"/>
          </a:p>
        </p:txBody>
      </p:sp>
      <p:sp>
        <p:nvSpPr>
          <p:cNvPr id="21" name="Text 9"/>
          <p:cNvSpPr/>
          <p:nvPr/>
        </p:nvSpPr>
        <p:spPr>
          <a:xfrm>
            <a:off x="9114234" y="3695700"/>
            <a:ext cx="1450181"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Intégration</a:t>
            </a:r>
            <a:endParaRPr lang="en-US" sz="1500" dirty="0"/>
          </a:p>
        </p:txBody>
      </p:sp>
      <p:sp>
        <p:nvSpPr>
          <p:cNvPr id="22" name="Text 10"/>
          <p:cNvSpPr/>
          <p:nvPr/>
        </p:nvSpPr>
        <p:spPr>
          <a:xfrm>
            <a:off x="8934450" y="4038600"/>
            <a:ext cx="180975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Compatibilité avec vos outils Big Data existants</a:t>
            </a:r>
            <a:endParaRPr lang="en-US" sz="1200" dirty="0"/>
          </a:p>
        </p:txBody>
      </p:sp>
      <p:sp>
        <p:nvSpPr>
          <p:cNvPr id="23" name="Text 11"/>
          <p:cNvSpPr/>
          <p:nvPr/>
        </p:nvSpPr>
        <p:spPr>
          <a:xfrm>
            <a:off x="381000" y="5829300"/>
            <a:ext cx="11430000" cy="304800"/>
          </a:xfrm>
          <a:prstGeom prst="rect">
            <a:avLst/>
          </a:prstGeom>
          <a:noFill/>
          <a:ln/>
        </p:spPr>
        <p:txBody>
          <a:bodyPr vert="horz" wrap="square" lIns="0" tIns="0" rIns="0" bIns="0" rtlCol="0" anchor="t"/>
          <a:lstStyle/>
          <a:p>
            <a:pPr marL="0" indent="0" algn="ctr">
              <a:lnSpc>
                <a:spcPts val="2400"/>
              </a:lnSpc>
              <a:buNone/>
            </a:pPr>
            <a:r>
              <a:rPr lang="en-US" sz="1800" dirty="0">
                <a:solidFill>
                  <a:srgbClr val="374151"/>
                </a:solidFill>
                <a:latin typeface="ui-sans-serif" pitchFamily="34" charset="0"/>
                <a:ea typeface="ui-sans-serif" pitchFamily="34" charset="-122"/>
                <a:cs typeface="ui-sans-serif" pitchFamily="34" charset="-120"/>
              </a:rPr>
              <a:t>Merci pour votre attention</a:t>
            </a:r>
            <a:endParaRPr lang="en-US" sz="1800" dirty="0"/>
          </a:p>
        </p:txBody>
      </p:sp>
      <p:sp>
        <p:nvSpPr>
          <p:cNvPr id="24" name="Text 12"/>
          <p:cNvSpPr/>
          <p:nvPr/>
        </p:nvSpPr>
        <p:spPr>
          <a:xfrm>
            <a:off x="381000" y="6286500"/>
            <a:ext cx="37504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Dagster – Orchestration des pipelines Big Data</a:t>
            </a:r>
            <a:endParaRPr lang="en-US" sz="1050" dirty="0"/>
          </a:p>
        </p:txBody>
      </p:sp>
      <p:sp>
        <p:nvSpPr>
          <p:cNvPr id="25" name="Text 13"/>
          <p:cNvSpPr/>
          <p:nvPr/>
        </p:nvSpPr>
        <p:spPr>
          <a:xfrm>
            <a:off x="11275963" y="6286500"/>
            <a:ext cx="642045"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Page 12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1478</Words>
  <Application>Microsoft Office PowerPoint</Application>
  <PresentationFormat>Grand écran</PresentationFormat>
  <Paragraphs>213</Paragraphs>
  <Slides>12</Slides>
  <Notes>12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Arial</vt:lpstr>
      <vt:lpstr>Consolas</vt:lpstr>
      <vt:lpstr>Courier New</vt:lpstr>
      <vt:lpstr>ui-sans-serif</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khadija.errajibi75@gmail.com</cp:lastModifiedBy>
  <cp:revision>2</cp:revision>
  <dcterms:created xsi:type="dcterms:W3CDTF">2025-12-15T22:51:36Z</dcterms:created>
  <dcterms:modified xsi:type="dcterms:W3CDTF">2025-12-15T23:00:40Z</dcterms:modified>
</cp:coreProperties>
</file>